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13"/>
  </p:notesMasterIdLst>
  <p:sldIdLst>
    <p:sldId id="256" r:id="rId2"/>
    <p:sldId id="257" r:id="rId3"/>
    <p:sldId id="265" r:id="rId4"/>
    <p:sldId id="258" r:id="rId5"/>
    <p:sldId id="259" r:id="rId6"/>
    <p:sldId id="260" r:id="rId7"/>
    <p:sldId id="261" r:id="rId8"/>
    <p:sldId id="262" r:id="rId9"/>
    <p:sldId id="263"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722"/>
  </p:normalViewPr>
  <p:slideViewPr>
    <p:cSldViewPr snapToGrid="0">
      <p:cViewPr varScale="1">
        <p:scale>
          <a:sx n="115" d="100"/>
          <a:sy n="115" d="100"/>
        </p:scale>
        <p:origin x="400"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C1A976-BE1C-4E63-BD88-65999E8DE6D2}"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975993BB-71AA-4DF1-869B-2C4EFDF79C10}">
      <dgm:prSet/>
      <dgm:spPr/>
      <dgm:t>
        <a:bodyPr/>
        <a:lstStyle/>
        <a:p>
          <a:r>
            <a:rPr lang="en-US" b="1"/>
            <a:t>The CPU / Critical Section:</a:t>
          </a:r>
          <a:r>
            <a:rPr lang="en-US"/>
            <a:t> The Cricket Pitch.</a:t>
          </a:r>
        </a:p>
      </dgm:t>
    </dgm:pt>
    <dgm:pt modelId="{B1CD093E-EA2A-4882-B372-6CF08F783C6E}" type="parTrans" cxnId="{EC350AF8-20F3-41F4-8B95-13D8E6708C51}">
      <dgm:prSet/>
      <dgm:spPr/>
      <dgm:t>
        <a:bodyPr/>
        <a:lstStyle/>
        <a:p>
          <a:endParaRPr lang="en-US"/>
        </a:p>
      </dgm:t>
    </dgm:pt>
    <dgm:pt modelId="{254B2AAE-A672-44CE-9C72-8FD0B78DC3BD}" type="sibTrans" cxnId="{EC350AF8-20F3-41F4-8B95-13D8E6708C51}">
      <dgm:prSet/>
      <dgm:spPr/>
      <dgm:t>
        <a:bodyPr/>
        <a:lstStyle/>
        <a:p>
          <a:endParaRPr lang="en-US"/>
        </a:p>
      </dgm:t>
    </dgm:pt>
    <dgm:pt modelId="{EEEF7737-8777-4E60-A394-B80B5EDADF13}">
      <dgm:prSet/>
      <dgm:spPr/>
      <dgm:t>
        <a:bodyPr/>
        <a:lstStyle/>
        <a:p>
          <a:r>
            <a:rPr lang="en-US" b="1"/>
            <a:t>Processes/Threads:</a:t>
          </a:r>
          <a:r>
            <a:rPr lang="en-US"/>
            <a:t> Players (Bowlers, Batsmen, Fielders) and Umpire.</a:t>
          </a:r>
        </a:p>
      </dgm:t>
    </dgm:pt>
    <dgm:pt modelId="{124C47F3-7CCD-4E2F-9EDF-219A8E35C282}" type="parTrans" cxnId="{61E45F57-5CD7-4C0C-B7B1-F045D8A4A3BC}">
      <dgm:prSet/>
      <dgm:spPr/>
      <dgm:t>
        <a:bodyPr/>
        <a:lstStyle/>
        <a:p>
          <a:endParaRPr lang="en-US"/>
        </a:p>
      </dgm:t>
    </dgm:pt>
    <dgm:pt modelId="{9C904F9A-36DD-4442-A3CC-D8F4E2BBF99F}" type="sibTrans" cxnId="{61E45F57-5CD7-4C0C-B7B1-F045D8A4A3BC}">
      <dgm:prSet/>
      <dgm:spPr/>
      <dgm:t>
        <a:bodyPr/>
        <a:lstStyle/>
        <a:p>
          <a:endParaRPr lang="en-US"/>
        </a:p>
      </dgm:t>
    </dgm:pt>
    <dgm:pt modelId="{5F750A7C-5C4E-4C98-840A-88FD45C62AAD}">
      <dgm:prSet/>
      <dgm:spPr/>
      <dgm:t>
        <a:bodyPr/>
        <a:lstStyle/>
        <a:p>
          <a:r>
            <a:rPr lang="en-US" b="1"/>
            <a:t>The Ready Queue:</a:t>
          </a:r>
          <a:r>
            <a:rPr lang="en-US"/>
            <a:t> The Pavilion (Batsmen waiting to bat).</a:t>
          </a:r>
        </a:p>
      </dgm:t>
    </dgm:pt>
    <dgm:pt modelId="{C1F5004B-6CD9-4307-B88C-2FF748228D77}" type="parTrans" cxnId="{9A5299B2-6986-49AE-946B-16EC076FB25F}">
      <dgm:prSet/>
      <dgm:spPr/>
      <dgm:t>
        <a:bodyPr/>
        <a:lstStyle/>
        <a:p>
          <a:endParaRPr lang="en-US"/>
        </a:p>
      </dgm:t>
    </dgm:pt>
    <dgm:pt modelId="{BFF640E2-D85F-46E7-915D-7741DA77E5BE}" type="sibTrans" cxnId="{9A5299B2-6986-49AE-946B-16EC076FB25F}">
      <dgm:prSet/>
      <dgm:spPr/>
      <dgm:t>
        <a:bodyPr/>
        <a:lstStyle/>
        <a:p>
          <a:endParaRPr lang="en-US"/>
        </a:p>
      </dgm:t>
    </dgm:pt>
    <dgm:pt modelId="{1488A1D9-488E-46F0-A9D2-40EC302A799C}">
      <dgm:prSet/>
      <dgm:spPr/>
      <dgm:t>
        <a:bodyPr/>
        <a:lstStyle/>
        <a:p>
          <a:r>
            <a:rPr lang="en-US" b="1" dirty="0"/>
            <a:t>System Interrupts:</a:t>
          </a:r>
          <a:r>
            <a:rPr lang="en-US" dirty="0"/>
            <a:t> Wide, No ball, and "Ball in Air" events.</a:t>
          </a:r>
        </a:p>
      </dgm:t>
    </dgm:pt>
    <dgm:pt modelId="{4C581622-7DF0-4319-905B-7A52085182CB}" type="parTrans" cxnId="{CAED28AB-1494-441A-B4A4-AA5DA3837F63}">
      <dgm:prSet/>
      <dgm:spPr/>
      <dgm:t>
        <a:bodyPr/>
        <a:lstStyle/>
        <a:p>
          <a:endParaRPr lang="en-US"/>
        </a:p>
      </dgm:t>
    </dgm:pt>
    <dgm:pt modelId="{6B5DC0D7-649A-48A0-975B-63C3DCA85FDC}" type="sibTrans" cxnId="{CAED28AB-1494-441A-B4A4-AA5DA3837F63}">
      <dgm:prSet/>
      <dgm:spPr/>
      <dgm:t>
        <a:bodyPr/>
        <a:lstStyle/>
        <a:p>
          <a:endParaRPr lang="en-US"/>
        </a:p>
      </dgm:t>
    </dgm:pt>
    <dgm:pt modelId="{BE17696A-6EE7-6149-B541-B2D004841983}" type="pres">
      <dgm:prSet presAssocID="{82C1A976-BE1C-4E63-BD88-65999E8DE6D2}" presName="outerComposite" presStyleCnt="0">
        <dgm:presLayoutVars>
          <dgm:chMax val="5"/>
          <dgm:dir/>
          <dgm:resizeHandles val="exact"/>
        </dgm:presLayoutVars>
      </dgm:prSet>
      <dgm:spPr/>
    </dgm:pt>
    <dgm:pt modelId="{FE3C59DA-FF3B-E441-93FC-E4EDCA91AD49}" type="pres">
      <dgm:prSet presAssocID="{82C1A976-BE1C-4E63-BD88-65999E8DE6D2}" presName="dummyMaxCanvas" presStyleCnt="0">
        <dgm:presLayoutVars/>
      </dgm:prSet>
      <dgm:spPr/>
    </dgm:pt>
    <dgm:pt modelId="{D170C4A0-2F75-7043-8104-6C1E73E5B810}" type="pres">
      <dgm:prSet presAssocID="{82C1A976-BE1C-4E63-BD88-65999E8DE6D2}" presName="FourNodes_1" presStyleLbl="node1" presStyleIdx="0" presStyleCnt="4">
        <dgm:presLayoutVars>
          <dgm:bulletEnabled val="1"/>
        </dgm:presLayoutVars>
      </dgm:prSet>
      <dgm:spPr/>
    </dgm:pt>
    <dgm:pt modelId="{5A2E574E-1D86-8D44-BFDD-2632DCE9E002}" type="pres">
      <dgm:prSet presAssocID="{82C1A976-BE1C-4E63-BD88-65999E8DE6D2}" presName="FourNodes_2" presStyleLbl="node1" presStyleIdx="1" presStyleCnt="4">
        <dgm:presLayoutVars>
          <dgm:bulletEnabled val="1"/>
        </dgm:presLayoutVars>
      </dgm:prSet>
      <dgm:spPr/>
    </dgm:pt>
    <dgm:pt modelId="{E4EBC760-00C0-C94F-B1DE-B480C3ED3406}" type="pres">
      <dgm:prSet presAssocID="{82C1A976-BE1C-4E63-BD88-65999E8DE6D2}" presName="FourNodes_3" presStyleLbl="node1" presStyleIdx="2" presStyleCnt="4">
        <dgm:presLayoutVars>
          <dgm:bulletEnabled val="1"/>
        </dgm:presLayoutVars>
      </dgm:prSet>
      <dgm:spPr/>
    </dgm:pt>
    <dgm:pt modelId="{A5276FDD-D6B2-FB46-BC78-823E255B05D9}" type="pres">
      <dgm:prSet presAssocID="{82C1A976-BE1C-4E63-BD88-65999E8DE6D2}" presName="FourNodes_4" presStyleLbl="node1" presStyleIdx="3" presStyleCnt="4">
        <dgm:presLayoutVars>
          <dgm:bulletEnabled val="1"/>
        </dgm:presLayoutVars>
      </dgm:prSet>
      <dgm:spPr/>
    </dgm:pt>
    <dgm:pt modelId="{B65578B5-B6D6-1E40-908F-D728287F7302}" type="pres">
      <dgm:prSet presAssocID="{82C1A976-BE1C-4E63-BD88-65999E8DE6D2}" presName="FourConn_1-2" presStyleLbl="fgAccFollowNode1" presStyleIdx="0" presStyleCnt="3">
        <dgm:presLayoutVars>
          <dgm:bulletEnabled val="1"/>
        </dgm:presLayoutVars>
      </dgm:prSet>
      <dgm:spPr/>
    </dgm:pt>
    <dgm:pt modelId="{E01CAD1C-95BE-5147-8BA9-37089F0B8B38}" type="pres">
      <dgm:prSet presAssocID="{82C1A976-BE1C-4E63-BD88-65999E8DE6D2}" presName="FourConn_2-3" presStyleLbl="fgAccFollowNode1" presStyleIdx="1" presStyleCnt="3">
        <dgm:presLayoutVars>
          <dgm:bulletEnabled val="1"/>
        </dgm:presLayoutVars>
      </dgm:prSet>
      <dgm:spPr/>
    </dgm:pt>
    <dgm:pt modelId="{FD4D0446-EE21-C04B-9953-06A6007E59AC}" type="pres">
      <dgm:prSet presAssocID="{82C1A976-BE1C-4E63-BD88-65999E8DE6D2}" presName="FourConn_3-4" presStyleLbl="fgAccFollowNode1" presStyleIdx="2" presStyleCnt="3">
        <dgm:presLayoutVars>
          <dgm:bulletEnabled val="1"/>
        </dgm:presLayoutVars>
      </dgm:prSet>
      <dgm:spPr/>
    </dgm:pt>
    <dgm:pt modelId="{5D949404-919E-3343-9F29-73004B238B62}" type="pres">
      <dgm:prSet presAssocID="{82C1A976-BE1C-4E63-BD88-65999E8DE6D2}" presName="FourNodes_1_text" presStyleLbl="node1" presStyleIdx="3" presStyleCnt="4">
        <dgm:presLayoutVars>
          <dgm:bulletEnabled val="1"/>
        </dgm:presLayoutVars>
      </dgm:prSet>
      <dgm:spPr/>
    </dgm:pt>
    <dgm:pt modelId="{B971413E-ACA5-1A4D-91A4-3C1EFE669BF9}" type="pres">
      <dgm:prSet presAssocID="{82C1A976-BE1C-4E63-BD88-65999E8DE6D2}" presName="FourNodes_2_text" presStyleLbl="node1" presStyleIdx="3" presStyleCnt="4">
        <dgm:presLayoutVars>
          <dgm:bulletEnabled val="1"/>
        </dgm:presLayoutVars>
      </dgm:prSet>
      <dgm:spPr/>
    </dgm:pt>
    <dgm:pt modelId="{E3C8CCEB-551C-304B-92E5-6332898DC82C}" type="pres">
      <dgm:prSet presAssocID="{82C1A976-BE1C-4E63-BD88-65999E8DE6D2}" presName="FourNodes_3_text" presStyleLbl="node1" presStyleIdx="3" presStyleCnt="4">
        <dgm:presLayoutVars>
          <dgm:bulletEnabled val="1"/>
        </dgm:presLayoutVars>
      </dgm:prSet>
      <dgm:spPr/>
    </dgm:pt>
    <dgm:pt modelId="{55195A04-A7DE-3B4F-8FC6-B20E85DACFBF}" type="pres">
      <dgm:prSet presAssocID="{82C1A976-BE1C-4E63-BD88-65999E8DE6D2}" presName="FourNodes_4_text" presStyleLbl="node1" presStyleIdx="3" presStyleCnt="4">
        <dgm:presLayoutVars>
          <dgm:bulletEnabled val="1"/>
        </dgm:presLayoutVars>
      </dgm:prSet>
      <dgm:spPr/>
    </dgm:pt>
  </dgm:ptLst>
  <dgm:cxnLst>
    <dgm:cxn modelId="{76A44208-7C5E-9947-B8A6-2C4039C06AE5}" type="presOf" srcId="{5F750A7C-5C4E-4C98-840A-88FD45C62AAD}" destId="{E4EBC760-00C0-C94F-B1DE-B480C3ED3406}" srcOrd="0" destOrd="0" presId="urn:microsoft.com/office/officeart/2005/8/layout/vProcess5"/>
    <dgm:cxn modelId="{71663035-B05F-E448-9079-E57942D1DA06}" type="presOf" srcId="{EEEF7737-8777-4E60-A394-B80B5EDADF13}" destId="{B971413E-ACA5-1A4D-91A4-3C1EFE669BF9}" srcOrd="1" destOrd="0" presId="urn:microsoft.com/office/officeart/2005/8/layout/vProcess5"/>
    <dgm:cxn modelId="{8CD8D145-CD1C-3544-9F7F-119394E45815}" type="presOf" srcId="{1488A1D9-488E-46F0-A9D2-40EC302A799C}" destId="{A5276FDD-D6B2-FB46-BC78-823E255B05D9}" srcOrd="0" destOrd="0" presId="urn:microsoft.com/office/officeart/2005/8/layout/vProcess5"/>
    <dgm:cxn modelId="{AEFC6549-1C99-1F42-A8A1-730B61576EE8}" type="presOf" srcId="{1488A1D9-488E-46F0-A9D2-40EC302A799C}" destId="{55195A04-A7DE-3B4F-8FC6-B20E85DACFBF}" srcOrd="1" destOrd="0" presId="urn:microsoft.com/office/officeart/2005/8/layout/vProcess5"/>
    <dgm:cxn modelId="{61E45F57-5CD7-4C0C-B7B1-F045D8A4A3BC}" srcId="{82C1A976-BE1C-4E63-BD88-65999E8DE6D2}" destId="{EEEF7737-8777-4E60-A394-B80B5EDADF13}" srcOrd="1" destOrd="0" parTransId="{124C47F3-7CCD-4E2F-9EDF-219A8E35C282}" sibTransId="{9C904F9A-36DD-4442-A3CC-D8F4E2BBF99F}"/>
    <dgm:cxn modelId="{CC905477-CA69-1045-BF0E-0D2D87EE4213}" type="presOf" srcId="{BFF640E2-D85F-46E7-915D-7741DA77E5BE}" destId="{FD4D0446-EE21-C04B-9953-06A6007E59AC}" srcOrd="0" destOrd="0" presId="urn:microsoft.com/office/officeart/2005/8/layout/vProcess5"/>
    <dgm:cxn modelId="{53230489-5721-2049-B6F4-4EA5B4BB5A26}" type="presOf" srcId="{82C1A976-BE1C-4E63-BD88-65999E8DE6D2}" destId="{BE17696A-6EE7-6149-B541-B2D004841983}" srcOrd="0" destOrd="0" presId="urn:microsoft.com/office/officeart/2005/8/layout/vProcess5"/>
    <dgm:cxn modelId="{291A368D-BCBD-A449-A9D3-27BAB66490DD}" type="presOf" srcId="{5F750A7C-5C4E-4C98-840A-88FD45C62AAD}" destId="{E3C8CCEB-551C-304B-92E5-6332898DC82C}" srcOrd="1" destOrd="0" presId="urn:microsoft.com/office/officeart/2005/8/layout/vProcess5"/>
    <dgm:cxn modelId="{CAED28AB-1494-441A-B4A4-AA5DA3837F63}" srcId="{82C1A976-BE1C-4E63-BD88-65999E8DE6D2}" destId="{1488A1D9-488E-46F0-A9D2-40EC302A799C}" srcOrd="3" destOrd="0" parTransId="{4C581622-7DF0-4319-905B-7A52085182CB}" sibTransId="{6B5DC0D7-649A-48A0-975B-63C3DCA85FDC}"/>
    <dgm:cxn modelId="{9A5299B2-6986-49AE-946B-16EC076FB25F}" srcId="{82C1A976-BE1C-4E63-BD88-65999E8DE6D2}" destId="{5F750A7C-5C4E-4C98-840A-88FD45C62AAD}" srcOrd="2" destOrd="0" parTransId="{C1F5004B-6CD9-4307-B88C-2FF748228D77}" sibTransId="{BFF640E2-D85F-46E7-915D-7741DA77E5BE}"/>
    <dgm:cxn modelId="{448315B3-04E8-5F43-A3A7-6CA6D20DA1C6}" type="presOf" srcId="{975993BB-71AA-4DF1-869B-2C4EFDF79C10}" destId="{5D949404-919E-3343-9F29-73004B238B62}" srcOrd="1" destOrd="0" presId="urn:microsoft.com/office/officeart/2005/8/layout/vProcess5"/>
    <dgm:cxn modelId="{5204EDB4-D284-A645-86AC-35D631F1B398}" type="presOf" srcId="{975993BB-71AA-4DF1-869B-2C4EFDF79C10}" destId="{D170C4A0-2F75-7043-8104-6C1E73E5B810}" srcOrd="0" destOrd="0" presId="urn:microsoft.com/office/officeart/2005/8/layout/vProcess5"/>
    <dgm:cxn modelId="{CCA5F8B4-5425-A240-B602-E9F873AE1E80}" type="presOf" srcId="{EEEF7737-8777-4E60-A394-B80B5EDADF13}" destId="{5A2E574E-1D86-8D44-BFDD-2632DCE9E002}" srcOrd="0" destOrd="0" presId="urn:microsoft.com/office/officeart/2005/8/layout/vProcess5"/>
    <dgm:cxn modelId="{DA0A33CA-DEA5-EC4A-BE84-1A82B5B7375B}" type="presOf" srcId="{9C904F9A-36DD-4442-A3CC-D8F4E2BBF99F}" destId="{E01CAD1C-95BE-5147-8BA9-37089F0B8B38}" srcOrd="0" destOrd="0" presId="urn:microsoft.com/office/officeart/2005/8/layout/vProcess5"/>
    <dgm:cxn modelId="{A6D8B3E7-E600-9041-A268-DF66377AE662}" type="presOf" srcId="{254B2AAE-A672-44CE-9C72-8FD0B78DC3BD}" destId="{B65578B5-B6D6-1E40-908F-D728287F7302}" srcOrd="0" destOrd="0" presId="urn:microsoft.com/office/officeart/2005/8/layout/vProcess5"/>
    <dgm:cxn modelId="{EC350AF8-20F3-41F4-8B95-13D8E6708C51}" srcId="{82C1A976-BE1C-4E63-BD88-65999E8DE6D2}" destId="{975993BB-71AA-4DF1-869B-2C4EFDF79C10}" srcOrd="0" destOrd="0" parTransId="{B1CD093E-EA2A-4882-B372-6CF08F783C6E}" sibTransId="{254B2AAE-A672-44CE-9C72-8FD0B78DC3BD}"/>
    <dgm:cxn modelId="{6FFF7A05-2BE8-404B-B934-0839AF40C808}" type="presParOf" srcId="{BE17696A-6EE7-6149-B541-B2D004841983}" destId="{FE3C59DA-FF3B-E441-93FC-E4EDCA91AD49}" srcOrd="0" destOrd="0" presId="urn:microsoft.com/office/officeart/2005/8/layout/vProcess5"/>
    <dgm:cxn modelId="{E8D36E27-4D95-5941-867F-6EE924503D6B}" type="presParOf" srcId="{BE17696A-6EE7-6149-B541-B2D004841983}" destId="{D170C4A0-2F75-7043-8104-6C1E73E5B810}" srcOrd="1" destOrd="0" presId="urn:microsoft.com/office/officeart/2005/8/layout/vProcess5"/>
    <dgm:cxn modelId="{FC61CDDC-9038-1842-BF86-15723A04263A}" type="presParOf" srcId="{BE17696A-6EE7-6149-B541-B2D004841983}" destId="{5A2E574E-1D86-8D44-BFDD-2632DCE9E002}" srcOrd="2" destOrd="0" presId="urn:microsoft.com/office/officeart/2005/8/layout/vProcess5"/>
    <dgm:cxn modelId="{47119887-0BE8-3849-AE24-49BFC0228F93}" type="presParOf" srcId="{BE17696A-6EE7-6149-B541-B2D004841983}" destId="{E4EBC760-00C0-C94F-B1DE-B480C3ED3406}" srcOrd="3" destOrd="0" presId="urn:microsoft.com/office/officeart/2005/8/layout/vProcess5"/>
    <dgm:cxn modelId="{008E2612-D462-D84A-A642-7EB60B8EBEF2}" type="presParOf" srcId="{BE17696A-6EE7-6149-B541-B2D004841983}" destId="{A5276FDD-D6B2-FB46-BC78-823E255B05D9}" srcOrd="4" destOrd="0" presId="urn:microsoft.com/office/officeart/2005/8/layout/vProcess5"/>
    <dgm:cxn modelId="{3A2BCF0B-6D5E-9447-8092-18286D39E422}" type="presParOf" srcId="{BE17696A-6EE7-6149-B541-B2D004841983}" destId="{B65578B5-B6D6-1E40-908F-D728287F7302}" srcOrd="5" destOrd="0" presId="urn:microsoft.com/office/officeart/2005/8/layout/vProcess5"/>
    <dgm:cxn modelId="{A843870E-CBAB-BE4F-8C5A-B251C6F7C044}" type="presParOf" srcId="{BE17696A-6EE7-6149-B541-B2D004841983}" destId="{E01CAD1C-95BE-5147-8BA9-37089F0B8B38}" srcOrd="6" destOrd="0" presId="urn:microsoft.com/office/officeart/2005/8/layout/vProcess5"/>
    <dgm:cxn modelId="{04CC2552-A579-A341-B2E6-3281AE805AAD}" type="presParOf" srcId="{BE17696A-6EE7-6149-B541-B2D004841983}" destId="{FD4D0446-EE21-C04B-9953-06A6007E59AC}" srcOrd="7" destOrd="0" presId="urn:microsoft.com/office/officeart/2005/8/layout/vProcess5"/>
    <dgm:cxn modelId="{BE2B4EB0-EA07-934E-8DF4-C1B97DD6142A}" type="presParOf" srcId="{BE17696A-6EE7-6149-B541-B2D004841983}" destId="{5D949404-919E-3343-9F29-73004B238B62}" srcOrd="8" destOrd="0" presId="urn:microsoft.com/office/officeart/2005/8/layout/vProcess5"/>
    <dgm:cxn modelId="{4A120D9C-151C-3443-B6ED-61251A098175}" type="presParOf" srcId="{BE17696A-6EE7-6149-B541-B2D004841983}" destId="{B971413E-ACA5-1A4D-91A4-3C1EFE669BF9}" srcOrd="9" destOrd="0" presId="urn:microsoft.com/office/officeart/2005/8/layout/vProcess5"/>
    <dgm:cxn modelId="{D44F7439-8BDC-C744-BB13-E8D17966BC01}" type="presParOf" srcId="{BE17696A-6EE7-6149-B541-B2D004841983}" destId="{E3C8CCEB-551C-304B-92E5-6332898DC82C}" srcOrd="10" destOrd="0" presId="urn:microsoft.com/office/officeart/2005/8/layout/vProcess5"/>
    <dgm:cxn modelId="{D8E30F50-AB40-A24E-B141-048B37E3998B}" type="presParOf" srcId="{BE17696A-6EE7-6149-B541-B2D004841983}" destId="{55195A04-A7DE-3B4F-8FC6-B20E85DACFBF}"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DE848D-90D7-4B28-B9E2-AAB5788C426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473AF0AE-8ECB-417E-878A-452BA9502917}">
      <dgm:prSet custT="1"/>
      <dgm:spPr/>
      <dgm:t>
        <a:bodyPr/>
        <a:lstStyle/>
        <a:p>
          <a:r>
            <a:rPr lang="en-US" sz="2500" b="1" dirty="0"/>
            <a:t>Round Robin (RR):</a:t>
          </a:r>
          <a:r>
            <a:rPr lang="en-US" sz="2500" dirty="0"/>
            <a:t> </a:t>
          </a:r>
          <a:r>
            <a:rPr lang="en-US" sz="2200" dirty="0"/>
            <a:t>Controls the Bowlers.</a:t>
          </a:r>
        </a:p>
      </dgm:t>
    </dgm:pt>
    <dgm:pt modelId="{C0D00B66-FEA7-4034-A377-42830791799B}" type="parTrans" cxnId="{7F00C9E7-5F0F-4FC1-97BE-41DEC88C4309}">
      <dgm:prSet/>
      <dgm:spPr/>
      <dgm:t>
        <a:bodyPr/>
        <a:lstStyle/>
        <a:p>
          <a:endParaRPr lang="en-US"/>
        </a:p>
      </dgm:t>
    </dgm:pt>
    <dgm:pt modelId="{42B1073B-8B8E-42EE-A086-61A0B94B6B23}" type="sibTrans" cxnId="{7F00C9E7-5F0F-4FC1-97BE-41DEC88C4309}">
      <dgm:prSet/>
      <dgm:spPr/>
      <dgm:t>
        <a:bodyPr/>
        <a:lstStyle/>
        <a:p>
          <a:endParaRPr lang="en-US"/>
        </a:p>
      </dgm:t>
    </dgm:pt>
    <dgm:pt modelId="{923A6E4A-9B61-4CB1-9A7B-A4FD29550C12}">
      <dgm:prSet/>
      <dgm:spPr/>
      <dgm:t>
        <a:bodyPr/>
        <a:lstStyle/>
        <a:p>
          <a:r>
            <a:rPr lang="en-US" b="1"/>
            <a:t>Time Quantum:</a:t>
          </a:r>
          <a:r>
            <a:rPr lang="en-US"/>
            <a:t> Exactly 6 legal deliveries (1 over).</a:t>
          </a:r>
        </a:p>
      </dgm:t>
    </dgm:pt>
    <dgm:pt modelId="{FF8CEC1F-C7B3-4BCD-AD57-B2BB652F9389}" type="parTrans" cxnId="{5E79BBFA-B79F-475E-8206-3DE68C5268ED}">
      <dgm:prSet/>
      <dgm:spPr/>
      <dgm:t>
        <a:bodyPr/>
        <a:lstStyle/>
        <a:p>
          <a:endParaRPr lang="en-US"/>
        </a:p>
      </dgm:t>
    </dgm:pt>
    <dgm:pt modelId="{241EB970-D6D5-416C-ADAB-29BE0F2991A6}" type="sibTrans" cxnId="{5E79BBFA-B79F-475E-8206-3DE68C5268ED}">
      <dgm:prSet/>
      <dgm:spPr/>
      <dgm:t>
        <a:bodyPr/>
        <a:lstStyle/>
        <a:p>
          <a:endParaRPr lang="en-US"/>
        </a:p>
      </dgm:t>
    </dgm:pt>
    <dgm:pt modelId="{DFA944BD-16BD-40C2-B1D7-981365EF0D84}">
      <dgm:prSet/>
      <dgm:spPr/>
      <dgm:t>
        <a:bodyPr/>
        <a:lstStyle/>
        <a:p>
          <a:r>
            <a:rPr lang="en-US" dirty="0"/>
            <a:t>Enforced using an array to handle the T20 maximum over limits (4 overs for top bowlers, 3 for the rest).</a:t>
          </a:r>
        </a:p>
      </dgm:t>
    </dgm:pt>
    <dgm:pt modelId="{392E55F9-35C8-4516-B43D-9E9C6173A3A6}" type="parTrans" cxnId="{5EDF8AA7-9A11-4198-A1AB-0FC47A6D97BA}">
      <dgm:prSet/>
      <dgm:spPr/>
      <dgm:t>
        <a:bodyPr/>
        <a:lstStyle/>
        <a:p>
          <a:endParaRPr lang="en-US"/>
        </a:p>
      </dgm:t>
    </dgm:pt>
    <dgm:pt modelId="{0796FB74-2E8A-4043-9BE3-A7F3A325CBBF}" type="sibTrans" cxnId="{5EDF8AA7-9A11-4198-A1AB-0FC47A6D97BA}">
      <dgm:prSet/>
      <dgm:spPr/>
      <dgm:t>
        <a:bodyPr/>
        <a:lstStyle/>
        <a:p>
          <a:endParaRPr lang="en-US"/>
        </a:p>
      </dgm:t>
    </dgm:pt>
    <dgm:pt modelId="{9A8378BB-DFE1-4F2F-B6C5-28D1EAAA314E}">
      <dgm:prSet custT="1"/>
      <dgm:spPr/>
      <dgm:t>
        <a:bodyPr/>
        <a:lstStyle/>
        <a:p>
          <a:r>
            <a:rPr lang="en-US" sz="2500" b="1" dirty="0"/>
            <a:t>Shortest Job First (SJF):</a:t>
          </a:r>
          <a:r>
            <a:rPr lang="en-US" sz="2500" dirty="0"/>
            <a:t> </a:t>
          </a:r>
          <a:r>
            <a:rPr lang="en-US" sz="2200" dirty="0"/>
            <a:t>Controls the Batsman arrival order at the crease_sem.</a:t>
          </a:r>
        </a:p>
      </dgm:t>
    </dgm:pt>
    <dgm:pt modelId="{88BEEDD5-7068-4DDB-87E2-732BCDCDB3D0}" type="parTrans" cxnId="{823E4373-5252-46FF-8C6C-B1222148E8C0}">
      <dgm:prSet/>
      <dgm:spPr/>
      <dgm:t>
        <a:bodyPr/>
        <a:lstStyle/>
        <a:p>
          <a:endParaRPr lang="en-US"/>
        </a:p>
      </dgm:t>
    </dgm:pt>
    <dgm:pt modelId="{73706121-EEE5-414D-B339-3274739C5913}" type="sibTrans" cxnId="{823E4373-5252-46FF-8C6C-B1222148E8C0}">
      <dgm:prSet/>
      <dgm:spPr/>
      <dgm:t>
        <a:bodyPr/>
        <a:lstStyle/>
        <a:p>
          <a:endParaRPr lang="en-US"/>
        </a:p>
      </dgm:t>
    </dgm:pt>
    <dgm:pt modelId="{250BC7D1-8471-4713-AB63-1B547C6D76C9}">
      <dgm:prSet/>
      <dgm:spPr/>
      <dgm:t>
        <a:bodyPr/>
        <a:lstStyle/>
        <a:p>
          <a:r>
            <a:rPr lang="en-US" b="1" dirty="0"/>
            <a:t>Predicted Burst Time:</a:t>
          </a:r>
          <a:r>
            <a:rPr lang="en-US" dirty="0"/>
            <a:t> Estimated balls faced. Tail-enders (low burst) are prioritized to enter the crease first.</a:t>
          </a:r>
        </a:p>
      </dgm:t>
    </dgm:pt>
    <dgm:pt modelId="{0DED8899-BF7B-4606-99B3-C6AD4E5097BE}" type="parTrans" cxnId="{05D54937-2FEA-40BE-BDEE-B7E9C0AADF7F}">
      <dgm:prSet/>
      <dgm:spPr/>
      <dgm:t>
        <a:bodyPr/>
        <a:lstStyle/>
        <a:p>
          <a:endParaRPr lang="en-US"/>
        </a:p>
      </dgm:t>
    </dgm:pt>
    <dgm:pt modelId="{3531A34A-8ED8-4AF6-953F-CA420D2C57FD}" type="sibTrans" cxnId="{05D54937-2FEA-40BE-BDEE-B7E9C0AADF7F}">
      <dgm:prSet/>
      <dgm:spPr/>
      <dgm:t>
        <a:bodyPr/>
        <a:lstStyle/>
        <a:p>
          <a:endParaRPr lang="en-US"/>
        </a:p>
      </dgm:t>
    </dgm:pt>
    <dgm:pt modelId="{BE1B7A51-3CA4-3D41-9FDE-B98FAF67BFD3}" type="pres">
      <dgm:prSet presAssocID="{4BDE848D-90D7-4B28-B9E2-AAB5788C426E}" presName="Name0" presStyleCnt="0">
        <dgm:presLayoutVars>
          <dgm:dir/>
          <dgm:animLvl val="lvl"/>
          <dgm:resizeHandles val="exact"/>
        </dgm:presLayoutVars>
      </dgm:prSet>
      <dgm:spPr/>
    </dgm:pt>
    <dgm:pt modelId="{ECB79C37-0C66-F042-B8A5-4BD393D4BCCE}" type="pres">
      <dgm:prSet presAssocID="{473AF0AE-8ECB-417E-878A-452BA9502917}" presName="linNode" presStyleCnt="0"/>
      <dgm:spPr/>
    </dgm:pt>
    <dgm:pt modelId="{A7436FF7-4D50-4E4A-A8B6-9A93446D5429}" type="pres">
      <dgm:prSet presAssocID="{473AF0AE-8ECB-417E-878A-452BA9502917}" presName="parentText" presStyleLbl="node1" presStyleIdx="0" presStyleCnt="2">
        <dgm:presLayoutVars>
          <dgm:chMax val="1"/>
          <dgm:bulletEnabled val="1"/>
        </dgm:presLayoutVars>
      </dgm:prSet>
      <dgm:spPr/>
    </dgm:pt>
    <dgm:pt modelId="{18440813-D472-574D-A713-913EDEBF250C}" type="pres">
      <dgm:prSet presAssocID="{473AF0AE-8ECB-417E-878A-452BA9502917}" presName="descendantText" presStyleLbl="alignAccFollowNode1" presStyleIdx="0" presStyleCnt="2">
        <dgm:presLayoutVars>
          <dgm:bulletEnabled val="1"/>
        </dgm:presLayoutVars>
      </dgm:prSet>
      <dgm:spPr/>
    </dgm:pt>
    <dgm:pt modelId="{4BC23C07-4C33-804B-86F9-0BF797D097E5}" type="pres">
      <dgm:prSet presAssocID="{42B1073B-8B8E-42EE-A086-61A0B94B6B23}" presName="sp" presStyleCnt="0"/>
      <dgm:spPr/>
    </dgm:pt>
    <dgm:pt modelId="{1F6B6B29-C92B-B143-9791-F2BEEC5FD78D}" type="pres">
      <dgm:prSet presAssocID="{9A8378BB-DFE1-4F2F-B6C5-28D1EAAA314E}" presName="linNode" presStyleCnt="0"/>
      <dgm:spPr/>
    </dgm:pt>
    <dgm:pt modelId="{87BEE2D2-FB97-EB4D-9CDE-18FD88FB0116}" type="pres">
      <dgm:prSet presAssocID="{9A8378BB-DFE1-4F2F-B6C5-28D1EAAA314E}" presName="parentText" presStyleLbl="node1" presStyleIdx="1" presStyleCnt="2">
        <dgm:presLayoutVars>
          <dgm:chMax val="1"/>
          <dgm:bulletEnabled val="1"/>
        </dgm:presLayoutVars>
      </dgm:prSet>
      <dgm:spPr/>
    </dgm:pt>
    <dgm:pt modelId="{56280017-8909-2A42-9272-060C0B4C1C4A}" type="pres">
      <dgm:prSet presAssocID="{9A8378BB-DFE1-4F2F-B6C5-28D1EAAA314E}" presName="descendantText" presStyleLbl="alignAccFollowNode1" presStyleIdx="1" presStyleCnt="2">
        <dgm:presLayoutVars>
          <dgm:bulletEnabled val="1"/>
        </dgm:presLayoutVars>
      </dgm:prSet>
      <dgm:spPr/>
    </dgm:pt>
  </dgm:ptLst>
  <dgm:cxnLst>
    <dgm:cxn modelId="{05D54937-2FEA-40BE-BDEE-B7E9C0AADF7F}" srcId="{9A8378BB-DFE1-4F2F-B6C5-28D1EAAA314E}" destId="{250BC7D1-8471-4713-AB63-1B547C6D76C9}" srcOrd="0" destOrd="0" parTransId="{0DED8899-BF7B-4606-99B3-C6AD4E5097BE}" sibTransId="{3531A34A-8ED8-4AF6-953F-CA420D2C57FD}"/>
    <dgm:cxn modelId="{ACEE4D4E-DB31-814A-901E-64BAD74C8211}" type="presOf" srcId="{DFA944BD-16BD-40C2-B1D7-981365EF0D84}" destId="{18440813-D472-574D-A713-913EDEBF250C}" srcOrd="0" destOrd="1" presId="urn:microsoft.com/office/officeart/2005/8/layout/vList5"/>
    <dgm:cxn modelId="{823E4373-5252-46FF-8C6C-B1222148E8C0}" srcId="{4BDE848D-90D7-4B28-B9E2-AAB5788C426E}" destId="{9A8378BB-DFE1-4F2F-B6C5-28D1EAAA314E}" srcOrd="1" destOrd="0" parTransId="{88BEEDD5-7068-4DDB-87E2-732BCDCDB3D0}" sibTransId="{73706121-EEE5-414D-B339-3274739C5913}"/>
    <dgm:cxn modelId="{5EDF8AA7-9A11-4198-A1AB-0FC47A6D97BA}" srcId="{473AF0AE-8ECB-417E-878A-452BA9502917}" destId="{DFA944BD-16BD-40C2-B1D7-981365EF0D84}" srcOrd="1" destOrd="0" parTransId="{392E55F9-35C8-4516-B43D-9E9C6173A3A6}" sibTransId="{0796FB74-2E8A-4043-9BE3-A7F3A325CBBF}"/>
    <dgm:cxn modelId="{23E2C5AE-9268-6144-AD75-C8DB77FE73C0}" type="presOf" srcId="{473AF0AE-8ECB-417E-878A-452BA9502917}" destId="{A7436FF7-4D50-4E4A-A8B6-9A93446D5429}" srcOrd="0" destOrd="0" presId="urn:microsoft.com/office/officeart/2005/8/layout/vList5"/>
    <dgm:cxn modelId="{9F4B2EB0-2BC6-EC46-9227-BBA611E095AA}" type="presOf" srcId="{250BC7D1-8471-4713-AB63-1B547C6D76C9}" destId="{56280017-8909-2A42-9272-060C0B4C1C4A}" srcOrd="0" destOrd="0" presId="urn:microsoft.com/office/officeart/2005/8/layout/vList5"/>
    <dgm:cxn modelId="{07FA0AB9-EAAB-A64B-ADE2-F94CD8480F9E}" type="presOf" srcId="{4BDE848D-90D7-4B28-B9E2-AAB5788C426E}" destId="{BE1B7A51-3CA4-3D41-9FDE-B98FAF67BFD3}" srcOrd="0" destOrd="0" presId="urn:microsoft.com/office/officeart/2005/8/layout/vList5"/>
    <dgm:cxn modelId="{C480FCCD-1CB0-EC46-BE82-2006003817DC}" type="presOf" srcId="{9A8378BB-DFE1-4F2F-B6C5-28D1EAAA314E}" destId="{87BEE2D2-FB97-EB4D-9CDE-18FD88FB0116}" srcOrd="0" destOrd="0" presId="urn:microsoft.com/office/officeart/2005/8/layout/vList5"/>
    <dgm:cxn modelId="{F2E636D1-5926-D448-8405-8FD5F2CEB93B}" type="presOf" srcId="{923A6E4A-9B61-4CB1-9A7B-A4FD29550C12}" destId="{18440813-D472-574D-A713-913EDEBF250C}" srcOrd="0" destOrd="0" presId="urn:microsoft.com/office/officeart/2005/8/layout/vList5"/>
    <dgm:cxn modelId="{7F00C9E7-5F0F-4FC1-97BE-41DEC88C4309}" srcId="{4BDE848D-90D7-4B28-B9E2-AAB5788C426E}" destId="{473AF0AE-8ECB-417E-878A-452BA9502917}" srcOrd="0" destOrd="0" parTransId="{C0D00B66-FEA7-4034-A377-42830791799B}" sibTransId="{42B1073B-8B8E-42EE-A086-61A0B94B6B23}"/>
    <dgm:cxn modelId="{5E79BBFA-B79F-475E-8206-3DE68C5268ED}" srcId="{473AF0AE-8ECB-417E-878A-452BA9502917}" destId="{923A6E4A-9B61-4CB1-9A7B-A4FD29550C12}" srcOrd="0" destOrd="0" parTransId="{FF8CEC1F-C7B3-4BCD-AD57-B2BB652F9389}" sibTransId="{241EB970-D6D5-416C-ADAB-29BE0F2991A6}"/>
    <dgm:cxn modelId="{BBA74318-29F5-0146-B1BF-9FA0DB21BE2F}" type="presParOf" srcId="{BE1B7A51-3CA4-3D41-9FDE-B98FAF67BFD3}" destId="{ECB79C37-0C66-F042-B8A5-4BD393D4BCCE}" srcOrd="0" destOrd="0" presId="urn:microsoft.com/office/officeart/2005/8/layout/vList5"/>
    <dgm:cxn modelId="{0C70DE42-55B8-3D46-AC35-A9EA91D984D6}" type="presParOf" srcId="{ECB79C37-0C66-F042-B8A5-4BD393D4BCCE}" destId="{A7436FF7-4D50-4E4A-A8B6-9A93446D5429}" srcOrd="0" destOrd="0" presId="urn:microsoft.com/office/officeart/2005/8/layout/vList5"/>
    <dgm:cxn modelId="{52437C8E-3BBB-C340-8204-83BC9C95FB61}" type="presParOf" srcId="{ECB79C37-0C66-F042-B8A5-4BD393D4BCCE}" destId="{18440813-D472-574D-A713-913EDEBF250C}" srcOrd="1" destOrd="0" presId="urn:microsoft.com/office/officeart/2005/8/layout/vList5"/>
    <dgm:cxn modelId="{A149BBAC-2F47-FC40-BB17-E3D39C9C7D84}" type="presParOf" srcId="{BE1B7A51-3CA4-3D41-9FDE-B98FAF67BFD3}" destId="{4BC23C07-4C33-804B-86F9-0BF797D097E5}" srcOrd="1" destOrd="0" presId="urn:microsoft.com/office/officeart/2005/8/layout/vList5"/>
    <dgm:cxn modelId="{8F9CD015-A4BA-6149-897E-9A2FD7B4C5F2}" type="presParOf" srcId="{BE1B7A51-3CA4-3D41-9FDE-B98FAF67BFD3}" destId="{1F6B6B29-C92B-B143-9791-F2BEEC5FD78D}" srcOrd="2" destOrd="0" presId="urn:microsoft.com/office/officeart/2005/8/layout/vList5"/>
    <dgm:cxn modelId="{5C3A1544-2202-2149-B756-A25CF7E56512}" type="presParOf" srcId="{1F6B6B29-C92B-B143-9791-F2BEEC5FD78D}" destId="{87BEE2D2-FB97-EB4D-9CDE-18FD88FB0116}" srcOrd="0" destOrd="0" presId="urn:microsoft.com/office/officeart/2005/8/layout/vList5"/>
    <dgm:cxn modelId="{A841E714-5452-9A4F-946F-23AE967A3BF8}" type="presParOf" srcId="{1F6B6B29-C92B-B143-9791-F2BEEC5FD78D}" destId="{56280017-8909-2A42-9272-060C0B4C1C4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70C4A0-2F75-7043-8104-6C1E73E5B810}">
      <dsp:nvSpPr>
        <dsp:cNvPr id="0" name=""/>
        <dsp:cNvSpPr/>
      </dsp:nvSpPr>
      <dsp:spPr>
        <a:xfrm>
          <a:off x="0" y="0"/>
          <a:ext cx="8051596" cy="469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The CPU / Critical Section:</a:t>
          </a:r>
          <a:r>
            <a:rPr lang="en-US" sz="1600" kern="1200"/>
            <a:t> The Cricket Pitch.</a:t>
          </a:r>
        </a:p>
      </dsp:txBody>
      <dsp:txXfrm>
        <a:off x="13742" y="13742"/>
        <a:ext cx="7505660" cy="441703"/>
      </dsp:txXfrm>
    </dsp:sp>
    <dsp:sp modelId="{5A2E574E-1D86-8D44-BFDD-2632DCE9E002}">
      <dsp:nvSpPr>
        <dsp:cNvPr id="0" name=""/>
        <dsp:cNvSpPr/>
      </dsp:nvSpPr>
      <dsp:spPr>
        <a:xfrm>
          <a:off x="674321" y="554494"/>
          <a:ext cx="8051596" cy="469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Processes/Threads:</a:t>
          </a:r>
          <a:r>
            <a:rPr lang="en-US" sz="1600" kern="1200"/>
            <a:t> Players (Bowlers, Batsmen, Fielders) and Umpire.</a:t>
          </a:r>
        </a:p>
      </dsp:txBody>
      <dsp:txXfrm>
        <a:off x="688063" y="568236"/>
        <a:ext cx="7044819" cy="441703"/>
      </dsp:txXfrm>
    </dsp:sp>
    <dsp:sp modelId="{E4EBC760-00C0-C94F-B1DE-B480C3ED3406}">
      <dsp:nvSpPr>
        <dsp:cNvPr id="0" name=""/>
        <dsp:cNvSpPr/>
      </dsp:nvSpPr>
      <dsp:spPr>
        <a:xfrm>
          <a:off x="1338577" y="1108988"/>
          <a:ext cx="8051596" cy="469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The Ready Queue:</a:t>
          </a:r>
          <a:r>
            <a:rPr lang="en-US" sz="1600" kern="1200"/>
            <a:t> The Pavilion (Batsmen waiting to bat).</a:t>
          </a:r>
        </a:p>
      </dsp:txBody>
      <dsp:txXfrm>
        <a:off x="1352319" y="1122730"/>
        <a:ext cx="7054884" cy="441703"/>
      </dsp:txXfrm>
    </dsp:sp>
    <dsp:sp modelId="{A5276FDD-D6B2-FB46-BC78-823E255B05D9}">
      <dsp:nvSpPr>
        <dsp:cNvPr id="0" name=""/>
        <dsp:cNvSpPr/>
      </dsp:nvSpPr>
      <dsp:spPr>
        <a:xfrm>
          <a:off x="2012899" y="1663483"/>
          <a:ext cx="8051596" cy="469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System Interrupts:</a:t>
          </a:r>
          <a:r>
            <a:rPr lang="en-US" sz="1600" kern="1200" dirty="0"/>
            <a:t> Wide, No ball, and "Ball in Air" events.</a:t>
          </a:r>
        </a:p>
      </dsp:txBody>
      <dsp:txXfrm>
        <a:off x="2026641" y="1677225"/>
        <a:ext cx="7044819" cy="441703"/>
      </dsp:txXfrm>
    </dsp:sp>
    <dsp:sp modelId="{B65578B5-B6D6-1E40-908F-D728287F7302}">
      <dsp:nvSpPr>
        <dsp:cNvPr id="0" name=""/>
        <dsp:cNvSpPr/>
      </dsp:nvSpPr>
      <dsp:spPr>
        <a:xfrm>
          <a:off x="7746624" y="359355"/>
          <a:ext cx="304971" cy="30497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7815242" y="359355"/>
        <a:ext cx="167735" cy="229491"/>
      </dsp:txXfrm>
    </dsp:sp>
    <dsp:sp modelId="{E01CAD1C-95BE-5147-8BA9-37089F0B8B38}">
      <dsp:nvSpPr>
        <dsp:cNvPr id="0" name=""/>
        <dsp:cNvSpPr/>
      </dsp:nvSpPr>
      <dsp:spPr>
        <a:xfrm>
          <a:off x="8420946" y="913849"/>
          <a:ext cx="304971" cy="30497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8489564" y="913849"/>
        <a:ext cx="167735" cy="229491"/>
      </dsp:txXfrm>
    </dsp:sp>
    <dsp:sp modelId="{FD4D0446-EE21-C04B-9953-06A6007E59AC}">
      <dsp:nvSpPr>
        <dsp:cNvPr id="0" name=""/>
        <dsp:cNvSpPr/>
      </dsp:nvSpPr>
      <dsp:spPr>
        <a:xfrm>
          <a:off x="9085202" y="1468343"/>
          <a:ext cx="304971" cy="30497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9153820" y="1468343"/>
        <a:ext cx="167735" cy="2294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440813-D472-574D-A713-913EDEBF250C}">
      <dsp:nvSpPr>
        <dsp:cNvPr id="0" name=""/>
        <dsp:cNvSpPr/>
      </dsp:nvSpPr>
      <dsp:spPr>
        <a:xfrm rot="5400000">
          <a:off x="6049332" y="-2230664"/>
          <a:ext cx="1580758" cy="643737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b="1" kern="1200"/>
            <a:t>Time Quantum:</a:t>
          </a:r>
          <a:r>
            <a:rPr lang="en-US" sz="1900" kern="1200"/>
            <a:t> Exactly 6 legal deliveries (1 over).</a:t>
          </a:r>
        </a:p>
        <a:p>
          <a:pPr marL="171450" lvl="1" indent="-171450" algn="l" defTabSz="844550">
            <a:lnSpc>
              <a:spcPct val="90000"/>
            </a:lnSpc>
            <a:spcBef>
              <a:spcPct val="0"/>
            </a:spcBef>
            <a:spcAft>
              <a:spcPct val="15000"/>
            </a:spcAft>
            <a:buChar char="•"/>
          </a:pPr>
          <a:r>
            <a:rPr lang="en-US" sz="1900" kern="1200" dirty="0"/>
            <a:t>Enforced using an array to handle the T20 maximum over limits (4 overs for top bowlers, 3 for the rest).</a:t>
          </a:r>
        </a:p>
      </dsp:txBody>
      <dsp:txXfrm rot="-5400000">
        <a:off x="3621023" y="274811"/>
        <a:ext cx="6360210" cy="1426426"/>
      </dsp:txXfrm>
    </dsp:sp>
    <dsp:sp modelId="{A7436FF7-4D50-4E4A-A8B6-9A93446D5429}">
      <dsp:nvSpPr>
        <dsp:cNvPr id="0" name=""/>
        <dsp:cNvSpPr/>
      </dsp:nvSpPr>
      <dsp:spPr>
        <a:xfrm>
          <a:off x="0" y="49"/>
          <a:ext cx="3621023" cy="1975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b="1" kern="1200" dirty="0"/>
            <a:t>Round Robin (RR):</a:t>
          </a:r>
          <a:r>
            <a:rPr lang="en-US" sz="2500" kern="1200" dirty="0"/>
            <a:t> </a:t>
          </a:r>
          <a:r>
            <a:rPr lang="en-US" sz="2200" kern="1200" dirty="0"/>
            <a:t>Controls the Bowlers.</a:t>
          </a:r>
        </a:p>
      </dsp:txBody>
      <dsp:txXfrm>
        <a:off x="96458" y="96507"/>
        <a:ext cx="3428107" cy="1783031"/>
      </dsp:txXfrm>
    </dsp:sp>
    <dsp:sp modelId="{56280017-8909-2A42-9272-060C0B4C1C4A}">
      <dsp:nvSpPr>
        <dsp:cNvPr id="0" name=""/>
        <dsp:cNvSpPr/>
      </dsp:nvSpPr>
      <dsp:spPr>
        <a:xfrm rot="5400000">
          <a:off x="6049332" y="-155919"/>
          <a:ext cx="1580758" cy="643737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b="1" kern="1200" dirty="0"/>
            <a:t>Predicted Burst Time:</a:t>
          </a:r>
          <a:r>
            <a:rPr lang="en-US" sz="1900" kern="1200" dirty="0"/>
            <a:t> Estimated balls faced. Tail-enders (low burst) are prioritized to enter the crease first.</a:t>
          </a:r>
        </a:p>
      </dsp:txBody>
      <dsp:txXfrm rot="-5400000">
        <a:off x="3621023" y="2349556"/>
        <a:ext cx="6360210" cy="1426426"/>
      </dsp:txXfrm>
    </dsp:sp>
    <dsp:sp modelId="{87BEE2D2-FB97-EB4D-9CDE-18FD88FB0116}">
      <dsp:nvSpPr>
        <dsp:cNvPr id="0" name=""/>
        <dsp:cNvSpPr/>
      </dsp:nvSpPr>
      <dsp:spPr>
        <a:xfrm>
          <a:off x="0" y="2074794"/>
          <a:ext cx="3621023" cy="1975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b="1" kern="1200" dirty="0"/>
            <a:t>Shortest Job First (SJF):</a:t>
          </a:r>
          <a:r>
            <a:rPr lang="en-US" sz="2500" kern="1200" dirty="0"/>
            <a:t> </a:t>
          </a:r>
          <a:r>
            <a:rPr lang="en-US" sz="2200" kern="1200" dirty="0"/>
            <a:t>Controls the Batsman arrival order at the crease_sem.</a:t>
          </a:r>
        </a:p>
      </dsp:txBody>
      <dsp:txXfrm>
        <a:off x="96458" y="2171252"/>
        <a:ext cx="3428107" cy="1783031"/>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FCE94-D218-BF43-95E1-3EB9025A477A}" type="datetimeFigureOut">
              <a:rPr lang="en-US" smtClean="0"/>
              <a:t>3/29/26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16FD0F-1CF4-E347-BA78-FA7FCE957F61}" type="slidenum">
              <a:rPr lang="en-US" smtClean="0"/>
              <a:t>‹#›</a:t>
            </a:fld>
            <a:endParaRPr lang="en-US"/>
          </a:p>
        </p:txBody>
      </p:sp>
    </p:spTree>
    <p:extLst>
      <p:ext uri="{BB962C8B-B14F-4D97-AF65-F5344CB8AC3E}">
        <p14:creationId xmlns:p14="http://schemas.microsoft.com/office/powerpoint/2010/main" val="314116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6FD0F-1CF4-E347-BA78-FA7FCE957F61}" type="slidenum">
              <a:rPr lang="en-US" smtClean="0"/>
              <a:t>3</a:t>
            </a:fld>
            <a:endParaRPr lang="en-US"/>
          </a:p>
        </p:txBody>
      </p:sp>
    </p:spTree>
    <p:extLst>
      <p:ext uri="{BB962C8B-B14F-4D97-AF65-F5344CB8AC3E}">
        <p14:creationId xmlns:p14="http://schemas.microsoft.com/office/powerpoint/2010/main" val="382679341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3/29/26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3/29/26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3/29/26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3/29/26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3/29/26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3/29/26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3/29/26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3/29/26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3/29/26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smtClean="0"/>
              <a:t>3/29/26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3/29/26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3/29/26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2.xml"/><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2EFDDC-D9A9-47A5-43AE-4C5428F54DD6}"/>
              </a:ext>
            </a:extLst>
          </p:cNvPr>
          <p:cNvSpPr>
            <a:spLocks noGrp="1"/>
          </p:cNvSpPr>
          <p:nvPr>
            <p:ph type="ctrTitle"/>
          </p:nvPr>
        </p:nvSpPr>
        <p:spPr>
          <a:xfrm>
            <a:off x="6556100" y="1360493"/>
            <a:ext cx="4972511" cy="3106732"/>
          </a:xfrm>
        </p:spPr>
        <p:txBody>
          <a:bodyPr anchor="b">
            <a:normAutofit/>
          </a:bodyPr>
          <a:lstStyle/>
          <a:p>
            <a:r>
              <a:rPr lang="en-US" sz="8000" dirty="0">
                <a:solidFill>
                  <a:schemeClr val="tx1"/>
                </a:solidFill>
              </a:rPr>
              <a:t>Cricket Simulator</a:t>
            </a:r>
            <a:br>
              <a:rPr lang="en-US" sz="7200" dirty="0">
                <a:solidFill>
                  <a:schemeClr val="tx1"/>
                </a:solidFill>
              </a:rPr>
            </a:br>
            <a:r>
              <a:rPr lang="en-US" sz="6000" dirty="0">
                <a:solidFill>
                  <a:schemeClr val="tx1"/>
                </a:solidFill>
              </a:rPr>
              <a:t>OS Project</a:t>
            </a:r>
          </a:p>
        </p:txBody>
      </p:sp>
      <p:sp>
        <p:nvSpPr>
          <p:cNvPr id="3" name="Subtitle 2">
            <a:extLst>
              <a:ext uri="{FF2B5EF4-FFF2-40B4-BE49-F238E27FC236}">
                <a16:creationId xmlns:a16="http://schemas.microsoft.com/office/drawing/2014/main" id="{536B92A7-3A02-410C-E0FA-E78D37BD0D4B}"/>
              </a:ext>
            </a:extLst>
          </p:cNvPr>
          <p:cNvSpPr>
            <a:spLocks noGrp="1"/>
          </p:cNvSpPr>
          <p:nvPr>
            <p:ph type="subTitle" idx="1"/>
          </p:nvPr>
        </p:nvSpPr>
        <p:spPr>
          <a:xfrm>
            <a:off x="6556100" y="4687316"/>
            <a:ext cx="4972512" cy="1517088"/>
          </a:xfrm>
        </p:spPr>
        <p:txBody>
          <a:bodyPr>
            <a:normAutofit/>
          </a:bodyPr>
          <a:lstStyle/>
          <a:p>
            <a:r>
              <a:rPr lang="en-US">
                <a:solidFill>
                  <a:srgbClr val="FFFFFF"/>
                </a:solidFill>
              </a:rPr>
              <a:t>24114005	24114028</a:t>
            </a:r>
          </a:p>
          <a:p>
            <a:r>
              <a:rPr lang="en-US">
                <a:solidFill>
                  <a:srgbClr val="FFFFFF"/>
                </a:solidFill>
              </a:rPr>
              <a:t>24114088	24114050</a:t>
            </a:r>
          </a:p>
          <a:p>
            <a:r>
              <a:rPr lang="en-US">
                <a:solidFill>
                  <a:srgbClr val="FFFFFF"/>
                </a:solidFill>
              </a:rPr>
              <a:t>24114006</a:t>
            </a:r>
          </a:p>
        </p:txBody>
      </p:sp>
      <p:sp>
        <p:nvSpPr>
          <p:cNvPr id="12" name="Freeform: Shape 11">
            <a:extLst>
              <a:ext uri="{FF2B5EF4-FFF2-40B4-BE49-F238E27FC236}">
                <a16:creationId xmlns:a16="http://schemas.microsoft.com/office/drawing/2014/main" id="{14A1598B-1957-47CF-AAF4-F7A36DA0E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Cricket">
            <a:extLst>
              <a:ext uri="{FF2B5EF4-FFF2-40B4-BE49-F238E27FC236}">
                <a16:creationId xmlns:a16="http://schemas.microsoft.com/office/drawing/2014/main" id="{BCEE5425-C41F-8F14-C522-98C7C0E22F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7150" y="1526651"/>
            <a:ext cx="3804698" cy="3804698"/>
          </a:xfrm>
          <a:prstGeom prst="rect">
            <a:avLst/>
          </a:prstGeom>
        </p:spPr>
      </p:pic>
    </p:spTree>
    <p:extLst>
      <p:ext uri="{BB962C8B-B14F-4D97-AF65-F5344CB8AC3E}">
        <p14:creationId xmlns:p14="http://schemas.microsoft.com/office/powerpoint/2010/main" val="399258872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B5C5-6502-04FF-241C-8CA5F7EAB67D}"/>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15D5870B-B9BD-DAD4-04D2-82DBF6055151}"/>
              </a:ext>
            </a:extLst>
          </p:cNvPr>
          <p:cNvSpPr>
            <a:spLocks noGrp="1"/>
          </p:cNvSpPr>
          <p:nvPr>
            <p:ph idx="1"/>
          </p:nvPr>
        </p:nvSpPr>
        <p:spPr>
          <a:xfrm>
            <a:off x="1063752" y="1806498"/>
            <a:ext cx="10064496" cy="802887"/>
          </a:xfrm>
        </p:spPr>
        <p:txBody>
          <a:bodyPr/>
          <a:lstStyle/>
          <a:p>
            <a:r>
              <a:rPr lang="en-US" dirty="0"/>
              <a:t>To build a deadlock-free, multi-threaded simulator where cricket entities interact without crashing the system state.</a:t>
            </a:r>
          </a:p>
        </p:txBody>
      </p:sp>
      <p:sp>
        <p:nvSpPr>
          <p:cNvPr id="4" name="Title 1">
            <a:extLst>
              <a:ext uri="{FF2B5EF4-FFF2-40B4-BE49-F238E27FC236}">
                <a16:creationId xmlns:a16="http://schemas.microsoft.com/office/drawing/2014/main" id="{A2AEE065-7E12-11F9-DA0B-E9756F91C205}"/>
              </a:ext>
            </a:extLst>
          </p:cNvPr>
          <p:cNvSpPr txBox="1">
            <a:spLocks/>
          </p:cNvSpPr>
          <p:nvPr/>
        </p:nvSpPr>
        <p:spPr>
          <a:xfrm>
            <a:off x="1063752" y="2380005"/>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The OS to Cricket Mapping:</a:t>
            </a:r>
          </a:p>
        </p:txBody>
      </p:sp>
      <p:graphicFrame>
        <p:nvGraphicFramePr>
          <p:cNvPr id="7" name="Content Placeholder 2">
            <a:extLst>
              <a:ext uri="{FF2B5EF4-FFF2-40B4-BE49-F238E27FC236}">
                <a16:creationId xmlns:a16="http://schemas.microsoft.com/office/drawing/2014/main" id="{B04EB31D-B165-DC0B-DD74-0531B1FD1F0E}"/>
              </a:ext>
            </a:extLst>
          </p:cNvPr>
          <p:cNvGraphicFramePr/>
          <p:nvPr>
            <p:extLst>
              <p:ext uri="{D42A27DB-BD31-4B8C-83A1-F6EECF244321}">
                <p14:modId xmlns:p14="http://schemas.microsoft.com/office/powerpoint/2010/main" val="2548681086"/>
              </p:ext>
            </p:extLst>
          </p:nvPr>
        </p:nvGraphicFramePr>
        <p:xfrm>
          <a:off x="1063752" y="3989349"/>
          <a:ext cx="10064496" cy="21326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613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96" name="Rectangle 7195">
            <a:extLst>
              <a:ext uri="{FF2B5EF4-FFF2-40B4-BE49-F238E27FC236}">
                <a16:creationId xmlns:a16="http://schemas.microsoft.com/office/drawing/2014/main" id="{395BC10F-28F2-43C8-9B67-1D3A0543A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0070" y="0"/>
            <a:ext cx="7541930"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3037BA-C379-6DAE-A5C4-ACC8D7DD373D}"/>
              </a:ext>
            </a:extLst>
          </p:cNvPr>
          <p:cNvSpPr>
            <a:spLocks noGrp="1"/>
          </p:cNvSpPr>
          <p:nvPr>
            <p:ph type="title"/>
          </p:nvPr>
        </p:nvSpPr>
        <p:spPr>
          <a:xfrm>
            <a:off x="4970109" y="484632"/>
            <a:ext cx="6730277" cy="1609344"/>
          </a:xfrm>
          <a:ln>
            <a:noFill/>
          </a:ln>
        </p:spPr>
        <p:txBody>
          <a:bodyPr>
            <a:normAutofit/>
          </a:bodyPr>
          <a:lstStyle/>
          <a:p>
            <a:r>
              <a:rPr lang="en-US" sz="4800"/>
              <a:t>Assumptions</a:t>
            </a:r>
          </a:p>
        </p:txBody>
      </p:sp>
      <p:pic>
        <p:nvPicPr>
          <p:cNvPr id="9" name="Picture 8">
            <a:extLst>
              <a:ext uri="{FF2B5EF4-FFF2-40B4-BE49-F238E27FC236}">
                <a16:creationId xmlns:a16="http://schemas.microsoft.com/office/drawing/2014/main" id="{4E5CDA61-3739-60DB-9DFB-BB27A1762A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3629" y="299415"/>
            <a:ext cx="3117760" cy="1979778"/>
          </a:xfrm>
          <a:prstGeom prst="rect">
            <a:avLst/>
          </a:prstGeom>
        </p:spPr>
      </p:pic>
      <p:pic>
        <p:nvPicPr>
          <p:cNvPr id="7" name="Picture 6">
            <a:extLst>
              <a:ext uri="{FF2B5EF4-FFF2-40B4-BE49-F238E27FC236}">
                <a16:creationId xmlns:a16="http://schemas.microsoft.com/office/drawing/2014/main" id="{5CA4760D-E9B0-031F-D0D5-6D497D91E0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3629" y="2422944"/>
            <a:ext cx="3117760" cy="2018750"/>
          </a:xfrm>
          <a:prstGeom prst="rect">
            <a:avLst/>
          </a:prstGeom>
        </p:spPr>
      </p:pic>
      <p:pic>
        <p:nvPicPr>
          <p:cNvPr id="5" name="Picture 4">
            <a:extLst>
              <a:ext uri="{FF2B5EF4-FFF2-40B4-BE49-F238E27FC236}">
                <a16:creationId xmlns:a16="http://schemas.microsoft.com/office/drawing/2014/main" id="{A60E66BB-2DD8-B145-EA06-D23A87CCDC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3630" y="4585445"/>
            <a:ext cx="3117759" cy="2003160"/>
          </a:xfrm>
          <a:prstGeom prst="rect">
            <a:avLst/>
          </a:prstGeom>
        </p:spPr>
      </p:pic>
      <p:sp>
        <p:nvSpPr>
          <p:cNvPr id="3" name="Content Placeholder 2">
            <a:extLst>
              <a:ext uri="{FF2B5EF4-FFF2-40B4-BE49-F238E27FC236}">
                <a16:creationId xmlns:a16="http://schemas.microsoft.com/office/drawing/2014/main" id="{B714A229-18AA-7A93-657B-E4C41F800C40}"/>
              </a:ext>
            </a:extLst>
          </p:cNvPr>
          <p:cNvSpPr>
            <a:spLocks noGrp="1"/>
          </p:cNvSpPr>
          <p:nvPr>
            <p:ph idx="1"/>
          </p:nvPr>
        </p:nvSpPr>
        <p:spPr>
          <a:xfrm>
            <a:off x="4970109" y="2121408"/>
            <a:ext cx="6730276" cy="4050792"/>
          </a:xfrm>
        </p:spPr>
        <p:txBody>
          <a:bodyPr>
            <a:normAutofit/>
          </a:bodyPr>
          <a:lstStyle/>
          <a:p>
            <a:r>
              <a:rPr lang="en-US" sz="1800" b="1"/>
              <a:t>T20 Constraints</a:t>
            </a:r>
            <a:r>
              <a:rPr lang="en-US" sz="1800"/>
              <a:t>: Simulation strictly adheres to max 20 overs (120 balls) and 10 wickets per innings. If 10 wickets fall before 20 overs complete, immediately termination of all active threads and simulation ends.</a:t>
            </a:r>
          </a:p>
          <a:p>
            <a:pPr fontAlgn="base"/>
            <a:r>
              <a:rPr lang="en-US" sz="1800" b="1"/>
              <a:t>Stratified Probability Distribution</a:t>
            </a:r>
            <a:r>
              <a:rPr lang="en-US" sz="1800"/>
              <a:t>: To enforce burst time predictions, batsman threads divided into three tiers (Top, Middle, Tail). Each tier executes a specific simulate_delivery function with weighted probabilities, ensuring tail-enders statistically consume less CPU time.</a:t>
            </a:r>
          </a:p>
          <a:p>
            <a:pPr fontAlgn="base"/>
            <a:r>
              <a:rPr lang="en-US" sz="1800" b="1"/>
              <a:t>Extras (Wides &amp; No-Balls)</a:t>
            </a:r>
            <a:r>
              <a:rPr lang="en-US" sz="1800"/>
              <a:t>: Wide (3%) and no balls (3%) treated as system interrupts. Extra run added to total, but ball deemed "illegal”.</a:t>
            </a:r>
          </a:p>
        </p:txBody>
      </p:sp>
      <p:grpSp>
        <p:nvGrpSpPr>
          <p:cNvPr id="7197" name="Group 7196">
            <a:extLst>
              <a:ext uri="{FF2B5EF4-FFF2-40B4-BE49-F238E27FC236}">
                <a16:creationId xmlns:a16="http://schemas.microsoft.com/office/drawing/2014/main" id="{B0304908-7666-49AF-8BE8-B722183B39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7198" name="Oval 7197">
              <a:extLst>
                <a:ext uri="{FF2B5EF4-FFF2-40B4-BE49-F238E27FC236}">
                  <a16:creationId xmlns:a16="http://schemas.microsoft.com/office/drawing/2014/main" id="{C06BD438-6F5A-499B-9867-7B6FF7633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8">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7199" name="Oval 7198">
              <a:extLst>
                <a:ext uri="{FF2B5EF4-FFF2-40B4-BE49-F238E27FC236}">
                  <a16:creationId xmlns:a16="http://schemas.microsoft.com/office/drawing/2014/main" id="{EFC5E2A3-26AB-4A75-9D71-38E96FBB5E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481068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659EFE-004F-E34C-923D-20C69B9EA4FA}"/>
              </a:ext>
            </a:extLst>
          </p:cNvPr>
          <p:cNvSpPr>
            <a:spLocks noGrp="1"/>
          </p:cNvSpPr>
          <p:nvPr>
            <p:ph type="title"/>
          </p:nvPr>
        </p:nvSpPr>
        <p:spPr>
          <a:xfrm>
            <a:off x="382280" y="484632"/>
            <a:ext cx="6743844" cy="1609344"/>
          </a:xfrm>
        </p:spPr>
        <p:txBody>
          <a:bodyPr>
            <a:normAutofit/>
          </a:bodyPr>
          <a:lstStyle/>
          <a:p>
            <a:r>
              <a:rPr lang="en-US" sz="4800"/>
              <a:t>Thread architecture</a:t>
            </a:r>
          </a:p>
        </p:txBody>
      </p:sp>
      <p:sp>
        <p:nvSpPr>
          <p:cNvPr id="82" name="Rectangle 3">
            <a:extLst>
              <a:ext uri="{FF2B5EF4-FFF2-40B4-BE49-F238E27FC236}">
                <a16:creationId xmlns:a16="http://schemas.microsoft.com/office/drawing/2014/main" id="{AE6C8F6C-F681-E099-FFD7-E66464CA8750}"/>
              </a:ext>
            </a:extLst>
          </p:cNvPr>
          <p:cNvSpPr>
            <a:spLocks noGrp="1" noChangeArrowheads="1"/>
          </p:cNvSpPr>
          <p:nvPr>
            <p:ph idx="1"/>
          </p:nvPr>
        </p:nvSpPr>
        <p:spPr bwMode="auto">
          <a:xfrm>
            <a:off x="382279" y="2121408"/>
            <a:ext cx="6743845"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rPr>
              <a:t> Producers (Bowlers):</a:t>
            </a:r>
            <a:r>
              <a:rPr kumimoji="0" lang="en-US" altLang="en-US" sz="1800" b="0" i="0" u="none" strike="noStrike" cap="none" normalizeH="0" baseline="0" dirty="0">
                <a:ln>
                  <a:noFill/>
                </a:ln>
                <a:effectLst/>
              </a:rPr>
              <a:t> 6 threads. They "produce" deliveries and write them to the shared pitch state.</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rPr>
              <a:t> Consumers (Batsmen):</a:t>
            </a:r>
            <a:r>
              <a:rPr kumimoji="0" lang="en-US" altLang="en-US" sz="1800" b="0" i="0" u="none" strike="noStrike" cap="none" normalizeH="0" baseline="0" dirty="0">
                <a:ln>
                  <a:noFill/>
                </a:ln>
                <a:effectLst/>
              </a:rPr>
              <a:t> 11 threads. They "consume" deliveries from the pitch to produce runs or get dismissed.</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rPr>
              <a:t> Waiters (Fielders):</a:t>
            </a:r>
            <a:r>
              <a:rPr kumimoji="0" lang="en-US" altLang="en-US" sz="1800" b="0" i="0" u="none" strike="noStrike" cap="none" normalizeH="0" baseline="0" dirty="0">
                <a:ln>
                  <a:noFill/>
                </a:ln>
                <a:effectLst/>
              </a:rPr>
              <a:t> 10 threads. Sleeping background processes that wake up only on a specific hardware interrupt (ball_in_air).</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rPr>
              <a:t> Kernel Daemon (Third Umpire):</a:t>
            </a:r>
            <a:r>
              <a:rPr kumimoji="0" lang="en-US" altLang="en-US" sz="1800" b="0" i="0" u="none" strike="noStrike" cap="none" normalizeH="0" baseline="0" dirty="0">
                <a:ln>
                  <a:noFill/>
                </a:ln>
                <a:effectLst/>
              </a:rPr>
              <a:t> Runs asynchronously in the background monitoring system matrices for deadlocks.</a:t>
            </a:r>
          </a:p>
        </p:txBody>
      </p:sp>
      <p:grpSp>
        <p:nvGrpSpPr>
          <p:cNvPr id="30" name="Group 29">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83" name="Oval 82">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84" name="Oval 83">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10" name="Graphic 9" descr="Cricket">
            <a:extLst>
              <a:ext uri="{FF2B5EF4-FFF2-40B4-BE49-F238E27FC236}">
                <a16:creationId xmlns:a16="http://schemas.microsoft.com/office/drawing/2014/main" id="{712CF1B7-F86E-A7DE-BA42-C69986128C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03460" y="1595727"/>
            <a:ext cx="3369177" cy="3369177"/>
          </a:xfrm>
          <a:prstGeom prst="rect">
            <a:avLst/>
          </a:prstGeom>
        </p:spPr>
      </p:pic>
    </p:spTree>
    <p:extLst>
      <p:ext uri="{BB962C8B-B14F-4D97-AF65-F5344CB8AC3E}">
        <p14:creationId xmlns:p14="http://schemas.microsoft.com/office/powerpoint/2010/main" val="1645483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A50670-F61F-5F69-E14E-7DE494BCD821}"/>
              </a:ext>
            </a:extLst>
          </p:cNvPr>
          <p:cNvSpPr>
            <a:spLocks noGrp="1"/>
          </p:cNvSpPr>
          <p:nvPr>
            <p:ph type="title"/>
          </p:nvPr>
        </p:nvSpPr>
        <p:spPr>
          <a:xfrm>
            <a:off x="382280" y="484632"/>
            <a:ext cx="6743844" cy="1609344"/>
          </a:xfrm>
        </p:spPr>
        <p:txBody>
          <a:bodyPr>
            <a:normAutofit/>
          </a:bodyPr>
          <a:lstStyle/>
          <a:p>
            <a:r>
              <a:rPr lang="en-US" sz="4800"/>
              <a:t>Process Synchronization</a:t>
            </a:r>
          </a:p>
        </p:txBody>
      </p:sp>
      <p:sp>
        <p:nvSpPr>
          <p:cNvPr id="6" name="Rectangle 3">
            <a:extLst>
              <a:ext uri="{FF2B5EF4-FFF2-40B4-BE49-F238E27FC236}">
                <a16:creationId xmlns:a16="http://schemas.microsoft.com/office/drawing/2014/main" id="{9875360D-AFA8-9AC5-1A75-F307C5CD420A}"/>
              </a:ext>
            </a:extLst>
          </p:cNvPr>
          <p:cNvSpPr>
            <a:spLocks noGrp="1" noChangeArrowheads="1"/>
          </p:cNvSpPr>
          <p:nvPr>
            <p:ph idx="1"/>
          </p:nvPr>
        </p:nvSpPr>
        <p:spPr bwMode="auto">
          <a:xfrm>
            <a:off x="382279" y="2121408"/>
            <a:ext cx="6743845"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rPr>
              <a:t> pitch_mutex:</a:t>
            </a:r>
            <a:r>
              <a:rPr kumimoji="0" lang="en-US" altLang="en-US" sz="1800" b="0" i="0" u="none" strike="noStrike" cap="none" normalizeH="0" baseline="0" dirty="0">
                <a:ln>
                  <a:noFill/>
                </a:ln>
                <a:effectLst/>
              </a:rPr>
              <a:t> Enforces mutual exclusion on the Critical Section. Ensures only one ball is bowled and played at a time.</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rPr>
              <a:t> score_mutex:</a:t>
            </a:r>
            <a:r>
              <a:rPr kumimoji="0" lang="en-US" altLang="en-US" sz="1800" b="0" i="0" u="none" strike="noStrike" cap="none" normalizeH="0" baseline="0" dirty="0">
                <a:ln>
                  <a:noFill/>
                </a:ln>
                <a:effectLst/>
              </a:rPr>
              <a:t> Prevents dirty reads/writes to the global scoreboard.</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rPr>
              <a:t> </a:t>
            </a:r>
            <a:r>
              <a:rPr kumimoji="0" lang="en-US" altLang="en-US" sz="1800" b="1" i="0" u="none" strike="noStrike" cap="none" normalizeH="0" baseline="0" dirty="0" err="1">
                <a:ln>
                  <a:noFill/>
                </a:ln>
                <a:effectLst/>
              </a:rPr>
              <a:t>crease_sem</a:t>
            </a:r>
            <a:r>
              <a:rPr kumimoji="0" lang="en-US" altLang="en-US" sz="1800" b="1" i="0" u="none" strike="noStrike" cap="none" normalizeH="0" baseline="0" dirty="0">
                <a:ln>
                  <a:noFill/>
                </a:ln>
                <a:effectLst/>
              </a:rPr>
              <a:t> (Semaphore):</a:t>
            </a:r>
            <a:r>
              <a:rPr kumimoji="0" lang="en-US" altLang="en-US" sz="1800" b="0" i="0" u="none" strike="noStrike" cap="none" normalizeH="0" baseline="0" dirty="0">
                <a:ln>
                  <a:noFill/>
                </a:ln>
                <a:effectLst/>
              </a:rPr>
              <a:t> </a:t>
            </a:r>
            <a:r>
              <a:rPr lang="en-US" altLang="en-US" sz="1800" dirty="0"/>
              <a:t>C</a:t>
            </a:r>
            <a:r>
              <a:rPr kumimoji="0" lang="en-US" altLang="en-US" sz="1800" b="0" i="0" u="none" strike="noStrike" cap="none" normalizeH="0" baseline="0" dirty="0">
                <a:ln>
                  <a:noFill/>
                </a:ln>
                <a:effectLst/>
              </a:rPr>
              <a:t>ounting semaphore initialized to 2. </a:t>
            </a:r>
            <a:r>
              <a:rPr lang="en-US" altLang="en-US" sz="1800" dirty="0"/>
              <a:t>R</a:t>
            </a:r>
            <a:r>
              <a:rPr kumimoji="0" lang="en-US" altLang="en-US" sz="1800" b="0" i="0" u="none" strike="noStrike" cap="none" normalizeH="0" baseline="0" dirty="0">
                <a:ln>
                  <a:noFill/>
                </a:ln>
                <a:effectLst/>
              </a:rPr>
              <a:t>estricts the pavilion queue, ensuring exactly two Batsman threads hold the active Striker/Non-Striker slots.</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rPr>
              <a:t> Strict Handshake Protocol:</a:t>
            </a:r>
            <a:r>
              <a:rPr kumimoji="0" lang="en-US" altLang="en-US" sz="1800" b="0" i="0" u="none" strike="noStrike" cap="none" normalizeH="0" baseline="0" dirty="0">
                <a:ln>
                  <a:noFill/>
                </a:ln>
                <a:effectLst/>
              </a:rPr>
              <a:t> Uses </a:t>
            </a:r>
            <a:r>
              <a:rPr kumimoji="0" lang="en-US" altLang="en-US" sz="1800" b="0" i="0" u="none" strike="noStrike" cap="none" normalizeH="0" baseline="0" dirty="0" err="1">
                <a:ln>
                  <a:noFill/>
                </a:ln>
                <a:effectLst/>
              </a:rPr>
              <a:t>pthread_cond_wait</a:t>
            </a:r>
            <a:r>
              <a:rPr kumimoji="0" lang="en-US" altLang="en-US" sz="1800" b="0" i="0" u="none" strike="noStrike" cap="none" normalizeH="0" baseline="0" dirty="0">
                <a:ln>
                  <a:noFill/>
                </a:ln>
                <a:effectLst/>
              </a:rPr>
              <a:t> and </a:t>
            </a:r>
            <a:r>
              <a:rPr kumimoji="0" lang="en-US" altLang="en-US" sz="1800" b="0" i="0" u="none" strike="noStrike" cap="none" normalizeH="0" baseline="0" dirty="0" err="1">
                <a:ln>
                  <a:noFill/>
                </a:ln>
                <a:effectLst/>
              </a:rPr>
              <a:t>pthread_cond_broadcast</a:t>
            </a:r>
            <a:r>
              <a:rPr kumimoji="0" lang="en-US" altLang="en-US" sz="1800" b="0" i="0" u="none" strike="noStrike" cap="none" normalizeH="0" baseline="0" dirty="0">
                <a:ln>
                  <a:noFill/>
                </a:ln>
                <a:effectLst/>
              </a:rPr>
              <a:t> to force a strict sequential handshake between the active Bowler and Striker, preventing ghost deliveries or partial overs.</a:t>
            </a:r>
          </a:p>
        </p:txBody>
      </p:sp>
      <p:pic>
        <p:nvPicPr>
          <p:cNvPr id="10" name="Graphic 9" descr="Cricket">
            <a:extLst>
              <a:ext uri="{FF2B5EF4-FFF2-40B4-BE49-F238E27FC236}">
                <a16:creationId xmlns:a16="http://schemas.microsoft.com/office/drawing/2014/main" id="{9FF299AC-494A-8E99-7967-99D1D06179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03460" y="1595727"/>
            <a:ext cx="3369177" cy="3369177"/>
          </a:xfrm>
          <a:prstGeom prst="rect">
            <a:avLst/>
          </a:prstGeom>
        </p:spPr>
      </p:pic>
      <p:grpSp>
        <p:nvGrpSpPr>
          <p:cNvPr id="15" name="Group 14">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6" name="Oval 15">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7" name="Oval 16">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407979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BE323-C865-C10B-27D9-562992A8D81A}"/>
              </a:ext>
            </a:extLst>
          </p:cNvPr>
          <p:cNvSpPr>
            <a:spLocks noGrp="1"/>
          </p:cNvSpPr>
          <p:nvPr>
            <p:ph type="title"/>
          </p:nvPr>
        </p:nvSpPr>
        <p:spPr/>
        <p:txBody>
          <a:bodyPr/>
          <a:lstStyle/>
          <a:p>
            <a:r>
              <a:rPr lang="en-US"/>
              <a:t>CPU Scheduling Strategies</a:t>
            </a:r>
            <a:endParaRPr lang="en-US" dirty="0"/>
          </a:p>
        </p:txBody>
      </p:sp>
      <p:graphicFrame>
        <p:nvGraphicFramePr>
          <p:cNvPr id="5" name="Content Placeholder 2">
            <a:extLst>
              <a:ext uri="{FF2B5EF4-FFF2-40B4-BE49-F238E27FC236}">
                <a16:creationId xmlns:a16="http://schemas.microsoft.com/office/drawing/2014/main" id="{21653EC5-E57F-9572-026D-BCE491C76724}"/>
              </a:ext>
            </a:extLst>
          </p:cNvPr>
          <p:cNvGraphicFramePr>
            <a:graphicFrameLocks noGrp="1"/>
          </p:cNvGraphicFramePr>
          <p:nvPr>
            <p:ph idx="1"/>
            <p:extLst>
              <p:ext uri="{D42A27DB-BD31-4B8C-83A1-F6EECF244321}">
                <p14:modId xmlns:p14="http://schemas.microsoft.com/office/powerpoint/2010/main" val="2347228911"/>
              </p:ext>
            </p:extLst>
          </p:nvPr>
        </p:nvGraphicFramePr>
        <p:xfrm>
          <a:off x="1069848" y="2121408"/>
          <a:ext cx="10058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41676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4648169" cy="6858000"/>
          </a:xfrm>
          <a:prstGeom prst="rect">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a:solidFill>
                <a:prstClr val="white"/>
              </a:solidFill>
              <a:latin typeface="Rockwell Extra Bold" pitchFamily="18" charset="0"/>
            </a:endParaRPr>
          </a:p>
        </p:txBody>
      </p:sp>
      <p:sp>
        <p:nvSpPr>
          <p:cNvPr id="2" name="Title 1">
            <a:extLst>
              <a:ext uri="{FF2B5EF4-FFF2-40B4-BE49-F238E27FC236}">
                <a16:creationId xmlns:a16="http://schemas.microsoft.com/office/drawing/2014/main" id="{E4C91F15-90D3-0418-DFFA-5EDDB83B2168}"/>
              </a:ext>
            </a:extLst>
          </p:cNvPr>
          <p:cNvSpPr>
            <a:spLocks noGrp="1"/>
          </p:cNvSpPr>
          <p:nvPr>
            <p:ph type="title"/>
          </p:nvPr>
        </p:nvSpPr>
        <p:spPr>
          <a:xfrm>
            <a:off x="643468" y="643466"/>
            <a:ext cx="3686312" cy="5528734"/>
          </a:xfrm>
        </p:spPr>
        <p:txBody>
          <a:bodyPr>
            <a:normAutofit/>
          </a:bodyPr>
          <a:lstStyle/>
          <a:p>
            <a:pPr algn="r"/>
            <a:r>
              <a:rPr lang="en-US" sz="4800">
                <a:solidFill>
                  <a:srgbClr val="FFFFFF"/>
                </a:solidFill>
              </a:rPr>
              <a:t>SJF: Prediction vs Actual Execution</a:t>
            </a:r>
          </a:p>
        </p:txBody>
      </p:sp>
      <p:sp>
        <p:nvSpPr>
          <p:cNvPr id="22" name="Content Placeholder 2">
            <a:extLst>
              <a:ext uri="{FF2B5EF4-FFF2-40B4-BE49-F238E27FC236}">
                <a16:creationId xmlns:a16="http://schemas.microsoft.com/office/drawing/2014/main" id="{67A55ED0-9C1D-0A15-BAD1-8AA8EA0DA0BB}"/>
              </a:ext>
            </a:extLst>
          </p:cNvPr>
          <p:cNvSpPr>
            <a:spLocks noGrp="1"/>
          </p:cNvSpPr>
          <p:nvPr>
            <p:ph idx="1"/>
          </p:nvPr>
        </p:nvSpPr>
        <p:spPr>
          <a:xfrm>
            <a:off x="5053780" y="599768"/>
            <a:ext cx="6074467" cy="5572432"/>
          </a:xfrm>
        </p:spPr>
        <p:txBody>
          <a:bodyPr anchor="ctr">
            <a:normAutofit/>
          </a:bodyPr>
          <a:lstStyle/>
          <a:p>
            <a:r>
              <a:rPr lang="en-US" b="1" dirty="0"/>
              <a:t>The OS Concept</a:t>
            </a:r>
            <a:r>
              <a:rPr lang="en-US" dirty="0"/>
              <a:t>: Schedulers cannot predict the exact future, they rely on estimates.</a:t>
            </a:r>
          </a:p>
          <a:p>
            <a:endParaRPr lang="en-US" dirty="0"/>
          </a:p>
          <a:p>
            <a:r>
              <a:rPr lang="en-US" b="1" dirty="0"/>
              <a:t>Our Implementation</a:t>
            </a:r>
            <a:r>
              <a:rPr lang="en-US" dirty="0"/>
              <a:t>: Sort threads into the semaphore queue based on SJF predictions. Execution at the crease is Non-Preemptive and utilizes the probability distributions to simulate realistic, weighted OS execution variance.</a:t>
            </a:r>
          </a:p>
          <a:p>
            <a:endParaRPr lang="en-US" dirty="0"/>
          </a:p>
          <a:p>
            <a:r>
              <a:rPr lang="en-US" b="1" dirty="0"/>
              <a:t>Result</a:t>
            </a:r>
            <a:r>
              <a:rPr lang="en-US" dirty="0"/>
              <a:t>: A tail-ender might survive 20 balls (exceeding prediction), or a top-order batsman might get out ball 1 (falling short).</a:t>
            </a:r>
          </a:p>
        </p:txBody>
      </p:sp>
      <p:sp>
        <p:nvSpPr>
          <p:cNvPr id="12" name="Oval 11">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042004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B3180A-BE53-2B16-FB30-BB8B1E5A16C2}"/>
              </a:ext>
            </a:extLst>
          </p:cNvPr>
          <p:cNvSpPr>
            <a:spLocks noGrp="1"/>
          </p:cNvSpPr>
          <p:nvPr>
            <p:ph type="title"/>
          </p:nvPr>
        </p:nvSpPr>
        <p:spPr>
          <a:xfrm>
            <a:off x="1286934" y="1465790"/>
            <a:ext cx="3860798" cy="3941345"/>
          </a:xfrm>
        </p:spPr>
        <p:txBody>
          <a:bodyPr>
            <a:normAutofit/>
          </a:bodyPr>
          <a:lstStyle/>
          <a:p>
            <a:r>
              <a:rPr lang="en-US" sz="6000"/>
              <a:t>Deadlock detection and recovery</a:t>
            </a:r>
          </a:p>
        </p:txBody>
      </p:sp>
      <p:sp>
        <p:nvSpPr>
          <p:cNvPr id="3" name="Content Placeholder 2">
            <a:extLst>
              <a:ext uri="{FF2B5EF4-FFF2-40B4-BE49-F238E27FC236}">
                <a16:creationId xmlns:a16="http://schemas.microsoft.com/office/drawing/2014/main" id="{CD595ED2-1145-C5B8-7BC1-1BDC07B80C89}"/>
              </a:ext>
            </a:extLst>
          </p:cNvPr>
          <p:cNvSpPr>
            <a:spLocks noGrp="1"/>
          </p:cNvSpPr>
          <p:nvPr>
            <p:ph idx="1"/>
          </p:nvPr>
        </p:nvSpPr>
        <p:spPr>
          <a:xfrm>
            <a:off x="6417733" y="1359090"/>
            <a:ext cx="5132665" cy="4048046"/>
          </a:xfrm>
        </p:spPr>
        <p:txBody>
          <a:bodyPr anchor="ctr">
            <a:normAutofit/>
          </a:bodyPr>
          <a:lstStyle/>
          <a:p>
            <a:r>
              <a:rPr lang="en-US" sz="1700" b="1" dirty="0"/>
              <a:t>The Deadlock (Circular Wait)</a:t>
            </a:r>
            <a:r>
              <a:rPr lang="en-US" sz="1700" dirty="0"/>
              <a:t>: A circular wait deadlock (where both batsmen run to the same end) does not happen on boundaries or dot balls. It only occurs on running plays (1, 2, or 3 runs) with a probability we assumed to be 7%.</a:t>
            </a:r>
          </a:p>
          <a:p>
            <a:endParaRPr lang="en-US" sz="1700" dirty="0"/>
          </a:p>
          <a:p>
            <a:r>
              <a:rPr lang="en-US" sz="1700" b="1" dirty="0"/>
              <a:t>The Detector</a:t>
            </a:r>
            <a:r>
              <a:rPr lang="en-US" sz="1700" dirty="0"/>
              <a:t>: The Umpire thread monitors the Allocation and Request Wait-For matrices.</a:t>
            </a:r>
          </a:p>
          <a:p>
            <a:endParaRPr lang="en-US" sz="1700" dirty="0"/>
          </a:p>
          <a:p>
            <a:r>
              <a:rPr lang="en-US" sz="1700" b="1" dirty="0"/>
              <a:t>The Recovery (Process Termination)</a:t>
            </a:r>
            <a:r>
              <a:rPr lang="en-US" sz="1700" dirty="0"/>
              <a:t>: Upon detecting a deadlock, the Umpire Kernel randomly selects one Batsman thread as the victim, terminates it (Run Out), and clears the system state to resume execution.</a:t>
            </a:r>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4269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E6EFE-C810-8BBE-62F3-F4F32BC67A22}"/>
              </a:ext>
            </a:extLst>
          </p:cNvPr>
          <p:cNvSpPr>
            <a:spLocks noGrp="1"/>
          </p:cNvSpPr>
          <p:nvPr>
            <p:ph type="title"/>
          </p:nvPr>
        </p:nvSpPr>
        <p:spPr>
          <a:xfrm>
            <a:off x="1066800" y="4511898"/>
            <a:ext cx="10058400" cy="1609344"/>
          </a:xfrm>
        </p:spPr>
        <p:txBody>
          <a:bodyPr>
            <a:normAutofit/>
          </a:bodyPr>
          <a:lstStyle/>
          <a:p>
            <a:r>
              <a:rPr lang="en-US" dirty="0"/>
              <a:t>Thread execution </a:t>
            </a:r>
            <a:r>
              <a:rPr lang="en-US"/>
              <a:t>(Gantt chart)</a:t>
            </a:r>
          </a:p>
        </p:txBody>
      </p:sp>
      <p:pic>
        <p:nvPicPr>
          <p:cNvPr id="5122" name="Picture 2">
            <a:extLst>
              <a:ext uri="{FF2B5EF4-FFF2-40B4-BE49-F238E27FC236}">
                <a16:creationId xmlns:a16="http://schemas.microsoft.com/office/drawing/2014/main" id="{E0C33345-4D7A-1217-45B9-A15FD2A1AFF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52726" y="549034"/>
            <a:ext cx="8086547" cy="3376133"/>
          </a:xfrm>
          <a:prstGeom prst="rect">
            <a:avLst/>
          </a:prstGeom>
          <a:noFill/>
          <a:extLst>
            <a:ext uri="{909E8E84-426E-40DD-AFC4-6F175D3DCCD1}">
              <a14:hiddenFill xmlns:a14="http://schemas.microsoft.com/office/drawing/2010/main">
                <a:solidFill>
                  <a:srgbClr val="FFFFFF"/>
                </a:solidFill>
              </a14:hiddenFill>
            </a:ext>
          </a:extLst>
        </p:spPr>
      </p:pic>
      <p:sp>
        <p:nvSpPr>
          <p:cNvPr id="5129" name="Rectangle 5128">
            <a:extLst>
              <a:ext uri="{FF2B5EF4-FFF2-40B4-BE49-F238E27FC236}">
                <a16:creationId xmlns:a16="http://schemas.microsoft.com/office/drawing/2014/main" id="{CAC6F186-990E-4A9E-9C75-88580953E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4431215"/>
            <a:ext cx="10058400"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839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Rectangle 3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A400FC4-8B3D-0404-30CF-1425FFFF8DCC}"/>
              </a:ext>
            </a:extLst>
          </p:cNvPr>
          <p:cNvSpPr>
            <a:spLocks noGrp="1"/>
          </p:cNvSpPr>
          <p:nvPr>
            <p:ph type="title"/>
          </p:nvPr>
        </p:nvSpPr>
        <p:spPr>
          <a:xfrm>
            <a:off x="1069848" y="484632"/>
            <a:ext cx="10058400" cy="1609344"/>
          </a:xfrm>
        </p:spPr>
        <p:txBody>
          <a:bodyPr>
            <a:normAutofit/>
          </a:bodyPr>
          <a:lstStyle/>
          <a:p>
            <a:r>
              <a:rPr lang="en-US"/>
              <a:t>Wait Time Analysis</a:t>
            </a:r>
          </a:p>
        </p:txBody>
      </p:sp>
      <p:sp>
        <p:nvSpPr>
          <p:cNvPr id="3" name="Content Placeholder 2">
            <a:extLst>
              <a:ext uri="{FF2B5EF4-FFF2-40B4-BE49-F238E27FC236}">
                <a16:creationId xmlns:a16="http://schemas.microsoft.com/office/drawing/2014/main" id="{DE54C6A0-2A02-CA36-2FCE-A417D7EA11CF}"/>
              </a:ext>
            </a:extLst>
          </p:cNvPr>
          <p:cNvSpPr>
            <a:spLocks noGrp="1"/>
          </p:cNvSpPr>
          <p:nvPr>
            <p:ph idx="1"/>
          </p:nvPr>
        </p:nvSpPr>
        <p:spPr>
          <a:xfrm>
            <a:off x="1069848" y="2320412"/>
            <a:ext cx="10058400" cy="3851787"/>
          </a:xfrm>
        </p:spPr>
        <p:txBody>
          <a:bodyPr>
            <a:normAutofit/>
          </a:bodyPr>
          <a:lstStyle/>
          <a:p>
            <a:r>
              <a:rPr lang="en-US" b="1"/>
              <a:t>FCFS</a:t>
            </a:r>
            <a:r>
              <a:rPr lang="en-US"/>
              <a:t>: Threads arrive and acquire the crease_sem sequentially (1, 2, 3...). This causes a severe Convoy Effect, where the Middle Order waits extensively in the pavilion queue.</a:t>
            </a:r>
          </a:p>
          <a:p>
            <a:r>
              <a:rPr lang="en-US" b="1"/>
              <a:t>SJF (Predicted vs. Actual Execution):</a:t>
            </a:r>
            <a:r>
              <a:rPr lang="en-US"/>
              <a:t> The scheduler sorts the Ready Queue, prioritizing tail-enders (lowest predicted burst times).</a:t>
            </a:r>
          </a:p>
          <a:p>
            <a:pPr lvl="1"/>
            <a:r>
              <a:rPr lang="en-US" b="1"/>
              <a:t>The Reality:</a:t>
            </a:r>
            <a:r>
              <a:rPr lang="en-US"/>
              <a:t> Execution is Non-Preemptive. Stratified probabilities guarantee tail-enders face fewer balls, though random OS variance still allows for unexpected long or short bursts.</a:t>
            </a:r>
          </a:p>
          <a:p>
            <a:pPr lvl="1"/>
            <a:r>
              <a:rPr lang="en-US" b="1"/>
              <a:t>The Result:</a:t>
            </a:r>
            <a:r>
              <a:rPr lang="en-US"/>
              <a:t> Because tail-ender threads empirically acquire and release the </a:t>
            </a:r>
            <a:r>
              <a:rPr lang="en-US" err="1"/>
              <a:t>crease_sem</a:t>
            </a:r>
            <a:r>
              <a:rPr lang="en-US"/>
              <a:t> rapidly, SJF drastically reduces the wait time for Middle Order threads (preventing the FCFS convoy effect).</a:t>
            </a:r>
          </a:p>
        </p:txBody>
      </p:sp>
      <p:sp>
        <p:nvSpPr>
          <p:cNvPr id="36" name="Oval 3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8" name="Oval 3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119816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4CAB94-B7B3-313B-A828-4F15260699D4}"/>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53" name="Oval 52">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54" name="Oval 53">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5" name="Rectangle 54">
            <a:extLst>
              <a:ext uri="{FF2B5EF4-FFF2-40B4-BE49-F238E27FC236}">
                <a16:creationId xmlns:a16="http://schemas.microsoft.com/office/drawing/2014/main" id="{0680B5D0-24EC-465A-A0E6-C4DF951E0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6" name="Rectangle 55">
            <a:extLst>
              <a:ext uri="{FF2B5EF4-FFF2-40B4-BE49-F238E27FC236}">
                <a16:creationId xmlns:a16="http://schemas.microsoft.com/office/drawing/2014/main" id="{30BF1B50-A83E-4ED6-A2AA-C943C1F89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F31E8B2-210B-4B90-83BB-3B180732E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E93995-4CB2-993E-EB06-96D4D2628314}"/>
              </a:ext>
            </a:extLst>
          </p:cNvPr>
          <p:cNvSpPr>
            <a:spLocks noGrp="1"/>
          </p:cNvSpPr>
          <p:nvPr>
            <p:ph type="title"/>
          </p:nvPr>
        </p:nvSpPr>
        <p:spPr>
          <a:xfrm>
            <a:off x="8200102" y="1432223"/>
            <a:ext cx="2818417" cy="3357976"/>
          </a:xfrm>
        </p:spPr>
        <p:txBody>
          <a:bodyPr vert="horz" lIns="91440" tIns="45720" rIns="91440" bIns="45720" rtlCol="0" anchor="ctr">
            <a:normAutofit fontScale="90000"/>
          </a:bodyPr>
          <a:lstStyle/>
          <a:p>
            <a:pPr>
              <a:lnSpc>
                <a:spcPct val="80000"/>
              </a:lnSpc>
            </a:pPr>
            <a:r>
              <a:rPr lang="en-US" sz="5600" dirty="0">
                <a:blipFill dpi="0" rotWithShape="1">
                  <a:blip r:embed="rId4"/>
                  <a:srcRect/>
                  <a:tile tx="6350" ty="-127000" sx="65000" sy="64000" flip="none" algn="tl"/>
                </a:blipFill>
              </a:rPr>
              <a:t>Wait Time Analysis - </a:t>
            </a:r>
            <a:br>
              <a:rPr lang="en-US" sz="5600" dirty="0">
                <a:blipFill dpi="0" rotWithShape="1">
                  <a:blip r:embed="rId4"/>
                  <a:srcRect/>
                  <a:tile tx="6350" ty="-127000" sx="65000" sy="64000" flip="none" algn="tl"/>
                </a:blipFill>
              </a:rPr>
            </a:br>
            <a:r>
              <a:rPr lang="en-US" sz="5600" dirty="0">
                <a:blipFill dpi="0" rotWithShape="1">
                  <a:blip r:embed="rId4"/>
                  <a:srcRect/>
                  <a:tile tx="6350" ty="-127000" sx="65000" sy="64000" flip="none" algn="tl"/>
                </a:blipFill>
              </a:rPr>
              <a:t>SFJ vs FCFS</a:t>
            </a:r>
          </a:p>
        </p:txBody>
      </p:sp>
      <p:sp>
        <p:nvSpPr>
          <p:cNvPr id="58" name="Rectangle 57">
            <a:extLst>
              <a:ext uri="{FF2B5EF4-FFF2-40B4-BE49-F238E27FC236}">
                <a16:creationId xmlns:a16="http://schemas.microsoft.com/office/drawing/2014/main" id="{6B387409-2B98-40F8-A65F-EF7CF989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C9E5F284-A588-4AE7-A36D-1C93E4FD02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47" name="Oval 46">
              <a:extLst>
                <a:ext uri="{FF2B5EF4-FFF2-40B4-BE49-F238E27FC236}">
                  <a16:creationId xmlns:a16="http://schemas.microsoft.com/office/drawing/2014/main" id="{45D7D540-5CF2-4FC1-BE53-277CC22C0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8" name="Oval 47">
              <a:extLst>
                <a:ext uri="{FF2B5EF4-FFF2-40B4-BE49-F238E27FC236}">
                  <a16:creationId xmlns:a16="http://schemas.microsoft.com/office/drawing/2014/main" id="{916C9AA0-DC0C-49A1-ACDF-10BD6D739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7" name="Picture 6">
            <a:extLst>
              <a:ext uri="{FF2B5EF4-FFF2-40B4-BE49-F238E27FC236}">
                <a16:creationId xmlns:a16="http://schemas.microsoft.com/office/drawing/2014/main" id="{92F959AF-D2DC-812D-4160-9E4CA9073B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0834" y="1919120"/>
            <a:ext cx="6631744" cy="2951125"/>
          </a:xfrm>
          <a:prstGeom prst="rect">
            <a:avLst/>
          </a:prstGeom>
        </p:spPr>
      </p:pic>
    </p:spTree>
    <p:extLst>
      <p:ext uri="{BB962C8B-B14F-4D97-AF65-F5344CB8AC3E}">
        <p14:creationId xmlns:p14="http://schemas.microsoft.com/office/powerpoint/2010/main" val="25803309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107</TotalTime>
  <Words>820</Words>
  <Application>Microsoft Macintosh PowerPoint</Application>
  <PresentationFormat>Widescreen</PresentationFormat>
  <Paragraphs>57</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Calibri</vt:lpstr>
      <vt:lpstr>Rockwell</vt:lpstr>
      <vt:lpstr>Rockwell Condensed</vt:lpstr>
      <vt:lpstr>Rockwell Extra Bold</vt:lpstr>
      <vt:lpstr>Wingdings</vt:lpstr>
      <vt:lpstr>Wood Type</vt:lpstr>
      <vt:lpstr>Cricket Simulator OS Project</vt:lpstr>
      <vt:lpstr>Objective</vt:lpstr>
      <vt:lpstr>Assumptions</vt:lpstr>
      <vt:lpstr>Thread architecture</vt:lpstr>
      <vt:lpstr>Process Synchronization</vt:lpstr>
      <vt:lpstr>CPU Scheduling Strategies</vt:lpstr>
      <vt:lpstr>SJF: Prediction vs Actual Execution</vt:lpstr>
      <vt:lpstr>Deadlock detection and recovery</vt:lpstr>
      <vt:lpstr>Thread execution (Gantt chart)</vt:lpstr>
      <vt:lpstr>Wait Time Analysis</vt:lpstr>
      <vt:lpstr>Wait Time Analysis -  SFJ vs FCFS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PRATAP SINGH BHADORIA (24114005)</dc:creator>
  <cp:lastModifiedBy>ADITYA PRATAP SINGH BHADORIA (24114005)</cp:lastModifiedBy>
  <cp:revision>2</cp:revision>
  <dcterms:created xsi:type="dcterms:W3CDTF">2026-03-19T13:14:52Z</dcterms:created>
  <dcterms:modified xsi:type="dcterms:W3CDTF">2026-03-29T11:11:26Z</dcterms:modified>
</cp:coreProperties>
</file>